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Introduce MET Digital Campus as a student-first platform bringing classes, attendance, academic tasks, and campus life into one simple app. Presented by Rohan Patil, Manish Pawar, Parth Deore, and Krushna Khode.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Frame the user problem as fragmented student life: separate places for schedules, attendance, learning work, announcements, and campus participation make it harder to stay organized.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Explain the solution as a connected student experience: planning, learning, tracking academic progress, and connecting with campus. The triangle mascot provides a recognizable, friendly identity throughout the app.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Walk through the dashboard concept. The time, class names, room, and attendance percentage shown on the screen are illustrative sample data, not live MET records.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Summarize the product scope: dashboard, timetable, attendance tracker and insights, Classroom, Campus Hub, MET Connect, dynamic QR student ID, notifications, and student profile.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Explain the attendance tracker as a guide that moves beyond reporting. The figures and 75% target shown on this slide are illustrative only; the app should use the student’s actual college or course requirements.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Show how the Campus Hub makes services and activities easier to discover, while MET Connect adds a social-style place for student, club, and college updates. The post is sample concept content.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Walk through the end-to-end journey: plan from the timetable, arrive with a digital ID, learn through Classroom, and stay involved through events and the campus feed.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Close with the project goal: a centralized, intelligent, and engaging student platform that makes academic organization and campus participation simpler.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LIGHT">
    <p:bg>
      <p:bgPr>
        <a:solidFill>
          <a:srgbClr val="F8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30352" y="6464808"/>
            <a:ext cx="146304" cy="0"/>
          </a:xfrm>
          <a:prstGeom prst="line">
            <a:avLst/>
          </a:prstGeom>
          <a:noFill/>
          <a:ln w="27940">
            <a:solidFill>
              <a:srgbClr val="E5253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58952" y="6355080"/>
            <a:ext cx="2560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60" kern="0" dirty="0">
                <a:solidFill>
                  <a:srgbClr val="8884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 DIGITAL CAMPUS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9098280" y="6355080"/>
            <a:ext cx="2240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spc="40" kern="0" dirty="0">
                <a:solidFill>
                  <a:srgbClr val="A29DA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STUDENT APP CONCEPT</a:t>
            </a:r>
            <a:endParaRPr lang="en-US" sz="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355080"/>
            <a:ext cx="228600" cy="219456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800">
                <a:solidFill>
                  <a:srgbClr val="6F6A71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355080"/>
            <a:ext cx="228600" cy="219456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800">
                <a:solidFill>
                  <a:srgbClr val="6F6A71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52535"/>
          </a:solidFill>
          <a:ln w="1270">
            <a:solidFill>
              <a:srgbClr val="E52535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092440" y="320040"/>
            <a:ext cx="3200400" cy="3200400"/>
          </a:xfrm>
          <a:prstGeom prst="ellipse">
            <a:avLst/>
          </a:prstGeom>
          <a:solidFill>
            <a:srgbClr val="F34D5A"/>
          </a:solidFill>
          <a:ln w="1270">
            <a:solidFill>
              <a:srgbClr val="F34D5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281160" y="4352544"/>
            <a:ext cx="3017520" cy="3017520"/>
          </a:xfrm>
          <a:prstGeom prst="ellipse">
            <a:avLst/>
          </a:prstGeom>
          <a:solidFill>
            <a:srgbClr val="C91A2C"/>
          </a:solidFill>
          <a:ln w="1270">
            <a:solidFill>
              <a:srgbClr val="C91A2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85800" y="585216"/>
            <a:ext cx="2587752" cy="347472"/>
          </a:xfrm>
          <a:prstGeom prst="roundRect">
            <a:avLst>
              <a:gd name="adj" fmla="val 31579"/>
            </a:avLst>
          </a:prstGeom>
          <a:solidFill>
            <a:srgbClr val="FCE9EC"/>
          </a:solidFill>
          <a:ln w="1270">
            <a:solidFill>
              <a:srgbClr val="FCE9E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68096" y="594360"/>
            <a:ext cx="2423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20" b="1" spc="35" kern="0" dirty="0">
                <a:solidFill>
                  <a:srgbClr val="A916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  ·  STUDENT APP CONCEPT</a:t>
            </a:r>
            <a:endParaRPr lang="en-US" sz="920" dirty="0"/>
          </a:p>
        </p:txBody>
      </p:sp>
      <p:sp>
        <p:nvSpPr>
          <p:cNvPr id="7" name="Text 5"/>
          <p:cNvSpPr/>
          <p:nvPr/>
        </p:nvSpPr>
        <p:spPr>
          <a:xfrm>
            <a:off x="685800" y="1298448"/>
            <a:ext cx="6720840" cy="15727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4600" b="1" spc="-6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 Digital</a:t>
            </a:r>
            <a:endParaRPr lang="en-US" sz="4600" dirty="0"/>
          </a:p>
          <a:p>
            <a:pPr indent="0" marL="0">
              <a:buNone/>
            </a:pPr>
            <a:r>
              <a:rPr lang="en-US" sz="4600" b="1" spc="-6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Campus</a:t>
            </a:r>
            <a:endParaRPr lang="en-US" sz="4600" dirty="0"/>
          </a:p>
        </p:txBody>
      </p:sp>
      <p:sp>
        <p:nvSpPr>
          <p:cNvPr id="8" name="Text 6"/>
          <p:cNvSpPr/>
          <p:nvPr/>
        </p:nvSpPr>
        <p:spPr>
          <a:xfrm>
            <a:off x="722376" y="3054096"/>
            <a:ext cx="59436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200" dirty="0">
                <a:solidFill>
                  <a:srgbClr val="FFF5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Your whole campus day,</a:t>
            </a:r>
            <a:endParaRPr lang="en-US" sz="2200" dirty="0"/>
          </a:p>
          <a:p>
            <a:pPr indent="0" marL="0">
              <a:buNone/>
            </a:pPr>
            <a:r>
              <a:rPr lang="en-US" sz="2200" dirty="0">
                <a:solidFill>
                  <a:srgbClr val="FFF5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one connected place.</a:t>
            </a:r>
            <a:endParaRPr lang="en-US" sz="2200" dirty="0"/>
          </a:p>
        </p:txBody>
      </p:sp>
      <p:sp>
        <p:nvSpPr>
          <p:cNvPr id="9" name="Shape 7"/>
          <p:cNvSpPr/>
          <p:nvPr/>
        </p:nvSpPr>
        <p:spPr>
          <a:xfrm>
            <a:off x="722376" y="4169664"/>
            <a:ext cx="2011680" cy="310896"/>
          </a:xfrm>
          <a:prstGeom prst="roundRect">
            <a:avLst>
              <a:gd name="adj" fmla="val 35294"/>
            </a:avLst>
          </a:prstGeom>
          <a:solidFill>
            <a:srgbClr val="C71F30"/>
          </a:solidFill>
          <a:ln w="1270">
            <a:solidFill>
              <a:srgbClr val="C71F3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04672" y="4178808"/>
            <a:ext cx="184708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spc="35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PROJECT PRESENTATION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731520" y="4828032"/>
            <a:ext cx="2377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b="1" spc="125" kern="0" dirty="0">
                <a:solidFill>
                  <a:srgbClr val="FFDD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PRESENTED BY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749808" y="5230368"/>
            <a:ext cx="347472" cy="347472"/>
          </a:xfrm>
          <a:prstGeom prst="ellipse">
            <a:avLst/>
          </a:prstGeom>
          <a:solidFill>
            <a:srgbClr val="FFF2F4"/>
          </a:solidFill>
          <a:ln w="1270">
            <a:solidFill>
              <a:srgbClr val="FFF2F4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49808" y="5239512"/>
            <a:ext cx="34747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A916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1207008" y="5225796"/>
            <a:ext cx="2487168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Rohan Patil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3730752" y="5230368"/>
            <a:ext cx="347472" cy="347472"/>
          </a:xfrm>
          <a:prstGeom prst="ellipse">
            <a:avLst/>
          </a:prstGeom>
          <a:solidFill>
            <a:srgbClr val="FFF2F4"/>
          </a:solidFill>
          <a:ln w="1270">
            <a:solidFill>
              <a:srgbClr val="FFF2F4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730752" y="5239512"/>
            <a:ext cx="34747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A916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4187952" y="5225796"/>
            <a:ext cx="2487168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Manish Pawar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749808" y="5806440"/>
            <a:ext cx="347472" cy="347472"/>
          </a:xfrm>
          <a:prstGeom prst="ellipse">
            <a:avLst/>
          </a:prstGeom>
          <a:solidFill>
            <a:srgbClr val="FFF2F4"/>
          </a:solidFill>
          <a:ln w="1270">
            <a:solidFill>
              <a:srgbClr val="FFF2F4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49808" y="5815584"/>
            <a:ext cx="34747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A916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1207008" y="5801868"/>
            <a:ext cx="2487168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Parth Deore</a:t>
            </a:r>
            <a:endParaRPr lang="en-US" sz="1500" dirty="0"/>
          </a:p>
        </p:txBody>
      </p:sp>
      <p:sp>
        <p:nvSpPr>
          <p:cNvPr id="21" name="Shape 19"/>
          <p:cNvSpPr/>
          <p:nvPr/>
        </p:nvSpPr>
        <p:spPr>
          <a:xfrm>
            <a:off x="3730752" y="5806440"/>
            <a:ext cx="347472" cy="347472"/>
          </a:xfrm>
          <a:prstGeom prst="ellipse">
            <a:avLst/>
          </a:prstGeom>
          <a:solidFill>
            <a:srgbClr val="FFF2F4"/>
          </a:solidFill>
          <a:ln w="1270">
            <a:solidFill>
              <a:srgbClr val="FFF2F4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730752" y="5815584"/>
            <a:ext cx="34747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A916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4187952" y="5801868"/>
            <a:ext cx="2487168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Krushna Khode</a:t>
            </a:r>
            <a:endParaRPr lang="en-US" sz="1500" dirty="0"/>
          </a:p>
        </p:txBody>
      </p:sp>
      <p:sp>
        <p:nvSpPr>
          <p:cNvPr id="24" name="Shape 22"/>
          <p:cNvSpPr/>
          <p:nvPr/>
        </p:nvSpPr>
        <p:spPr>
          <a:xfrm>
            <a:off x="8229600" y="502920"/>
            <a:ext cx="3246120" cy="5779008"/>
          </a:xfrm>
          <a:prstGeom prst="roundRect">
            <a:avLst>
              <a:gd name="adj" fmla="val 3380"/>
            </a:avLst>
          </a:prstGeom>
          <a:solidFill>
            <a:srgbClr val="F6BBC1"/>
          </a:solidFill>
          <a:ln w="1270">
            <a:solidFill>
              <a:srgbClr val="F6BBC1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412480" y="658368"/>
            <a:ext cx="2880360" cy="5449824"/>
          </a:xfrm>
          <a:prstGeom prst="roundRect">
            <a:avLst>
              <a:gd name="adj" fmla="val 3810"/>
            </a:avLst>
          </a:prstGeom>
          <a:solidFill>
            <a:srgbClr val="242329"/>
          </a:solidFill>
          <a:ln w="7620">
            <a:solidFill>
              <a:srgbClr val="242329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8570900" y="816788"/>
            <a:ext cx="2563520" cy="5132984"/>
          </a:xfrm>
          <a:prstGeom prst="roundRect">
            <a:avLst>
              <a:gd name="adj" fmla="val 4280"/>
            </a:avLst>
          </a:prstGeom>
          <a:solidFill>
            <a:srgbClr val="FFFFFF"/>
          </a:solidFill>
          <a:ln w="1270">
            <a:solidFill>
              <a:srgbClr val="FFFFFF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9535820" y="831190"/>
            <a:ext cx="633679" cy="100813"/>
          </a:xfrm>
          <a:prstGeom prst="roundRect">
            <a:avLst>
              <a:gd name="adj" fmla="val 108843"/>
            </a:avLst>
          </a:prstGeom>
          <a:solidFill>
            <a:srgbClr val="242329"/>
          </a:solidFill>
          <a:ln w="1270">
            <a:solidFill>
              <a:srgbClr val="242329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8727842" y="927571"/>
            <a:ext cx="387741" cy="147711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27" b="1" dirty="0">
                <a:solidFill>
                  <a:srgbClr val="201E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9:41</a:t>
            </a:r>
            <a:endParaRPr lang="en-US" sz="727" dirty="0"/>
          </a:p>
        </p:txBody>
      </p:sp>
      <p:sp>
        <p:nvSpPr>
          <p:cNvPr id="29" name="Shape 27"/>
          <p:cNvSpPr/>
          <p:nvPr/>
        </p:nvSpPr>
        <p:spPr>
          <a:xfrm>
            <a:off x="10691288" y="973730"/>
            <a:ext cx="60008" cy="60008"/>
          </a:xfrm>
          <a:prstGeom prst="ellipse">
            <a:avLst/>
          </a:prstGeom>
          <a:solidFill>
            <a:srgbClr val="201E24"/>
          </a:solidFill>
          <a:ln w="1270">
            <a:solidFill>
              <a:srgbClr val="201E24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10802071" y="973730"/>
            <a:ext cx="60008" cy="60008"/>
          </a:xfrm>
          <a:prstGeom prst="ellipse">
            <a:avLst/>
          </a:prstGeom>
          <a:solidFill>
            <a:srgbClr val="201E24"/>
          </a:solidFill>
          <a:ln w="1270">
            <a:solidFill>
              <a:srgbClr val="201E24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10931318" y="936803"/>
            <a:ext cx="110783" cy="83087"/>
          </a:xfrm>
          <a:prstGeom prst="rect">
            <a:avLst/>
          </a:prstGeom>
          <a:solidFill>
            <a:srgbClr val="201E24"/>
          </a:solidFill>
          <a:ln w="1270">
            <a:solidFill>
              <a:srgbClr val="201E24">
                <a:alpha val="0"/>
              </a:srgbClr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8737074" y="1186065"/>
            <a:ext cx="2231171" cy="175407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27" b="1" spc="35" kern="0" dirty="0">
                <a:solidFill>
                  <a:srgbClr val="E525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  /  DIGITAL CAMPUS</a:t>
            </a:r>
            <a:endParaRPr lang="en-US" sz="727" dirty="0"/>
          </a:p>
        </p:txBody>
      </p:sp>
      <p:sp>
        <p:nvSpPr>
          <p:cNvPr id="33" name="Text 31"/>
          <p:cNvSpPr/>
          <p:nvPr/>
        </p:nvSpPr>
        <p:spPr>
          <a:xfrm>
            <a:off x="8737074" y="1435327"/>
            <a:ext cx="2231171" cy="57237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615" b="1" dirty="0">
                <a:solidFill>
                  <a:srgbClr val="201E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Good morning,</a:t>
            </a:r>
            <a:endParaRPr lang="en-US" sz="1615" dirty="0"/>
          </a:p>
          <a:p>
            <a:pPr indent="0" marL="0">
              <a:buNone/>
            </a:pPr>
            <a:r>
              <a:rPr lang="en-US" sz="1615" b="1" dirty="0">
                <a:solidFill>
                  <a:srgbClr val="201E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Rohan</a:t>
            </a:r>
            <a:endParaRPr lang="en-US" sz="1615" dirty="0"/>
          </a:p>
        </p:txBody>
      </p:sp>
      <p:sp>
        <p:nvSpPr>
          <p:cNvPr id="34" name="Text 32"/>
          <p:cNvSpPr/>
          <p:nvPr/>
        </p:nvSpPr>
        <p:spPr>
          <a:xfrm>
            <a:off x="8737074" y="2053865"/>
            <a:ext cx="2231171" cy="18463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87" b="1" spc="20" kern="0" dirty="0">
                <a:solidFill>
                  <a:srgbClr val="6D68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MONDAY  ·  YOUR DAY AT A GLANCE</a:t>
            </a:r>
            <a:endParaRPr lang="en-US" sz="687" dirty="0"/>
          </a:p>
        </p:txBody>
      </p:sp>
      <p:sp>
        <p:nvSpPr>
          <p:cNvPr id="35" name="Shape 33"/>
          <p:cNvSpPr/>
          <p:nvPr/>
        </p:nvSpPr>
        <p:spPr>
          <a:xfrm>
            <a:off x="8681683" y="2321591"/>
            <a:ext cx="2341954" cy="812409"/>
          </a:xfrm>
          <a:prstGeom prst="roundRect">
            <a:avLst>
              <a:gd name="adj" fmla="val 13506"/>
            </a:avLst>
          </a:prstGeom>
          <a:solidFill>
            <a:srgbClr val="FFF3F4"/>
          </a:solidFill>
          <a:ln w="7620">
            <a:solidFill>
              <a:srgbClr val="F8DCE0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8801698" y="2441606"/>
            <a:ext cx="2101924" cy="147711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07" b="1" spc="35" kern="0" dirty="0">
                <a:solidFill>
                  <a:srgbClr val="E525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NEXT CLASS  ·  09:00</a:t>
            </a:r>
            <a:endParaRPr lang="en-US" sz="707" dirty="0"/>
          </a:p>
        </p:txBody>
      </p:sp>
      <p:sp>
        <p:nvSpPr>
          <p:cNvPr id="37" name="Text 35"/>
          <p:cNvSpPr/>
          <p:nvPr/>
        </p:nvSpPr>
        <p:spPr>
          <a:xfrm>
            <a:off x="8801698" y="2635477"/>
            <a:ext cx="2101924" cy="18463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39" b="1" dirty="0">
                <a:solidFill>
                  <a:srgbClr val="201E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User Experience Design</a:t>
            </a:r>
            <a:endParaRPr lang="en-US" sz="939" dirty="0"/>
          </a:p>
        </p:txBody>
      </p:sp>
      <p:sp>
        <p:nvSpPr>
          <p:cNvPr id="38" name="Text 36"/>
          <p:cNvSpPr/>
          <p:nvPr/>
        </p:nvSpPr>
        <p:spPr>
          <a:xfrm>
            <a:off x="8801698" y="2847811"/>
            <a:ext cx="2101924" cy="138479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17" dirty="0">
                <a:solidFill>
                  <a:srgbClr val="6D68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Studio 204  ·  Block B</a:t>
            </a:r>
            <a:endParaRPr lang="en-US" sz="717" dirty="0"/>
          </a:p>
        </p:txBody>
      </p:sp>
      <p:sp>
        <p:nvSpPr>
          <p:cNvPr id="39" name="Text 37"/>
          <p:cNvSpPr/>
          <p:nvPr/>
        </p:nvSpPr>
        <p:spPr>
          <a:xfrm>
            <a:off x="8737074" y="3290943"/>
            <a:ext cx="2231171" cy="175407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77" b="1" spc="45" kern="0" dirty="0">
                <a:solidFill>
                  <a:srgbClr val="201E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COMING UP</a:t>
            </a:r>
            <a:endParaRPr lang="en-US" sz="777" dirty="0"/>
          </a:p>
        </p:txBody>
      </p:sp>
      <p:sp>
        <p:nvSpPr>
          <p:cNvPr id="40" name="Text 38"/>
          <p:cNvSpPr/>
          <p:nvPr/>
        </p:nvSpPr>
        <p:spPr>
          <a:xfrm>
            <a:off x="8737074" y="3577133"/>
            <a:ext cx="507756" cy="18463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17" b="1" dirty="0">
                <a:solidFill>
                  <a:srgbClr val="E525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11:00</a:t>
            </a:r>
            <a:endParaRPr lang="en-US" sz="717" dirty="0"/>
          </a:p>
        </p:txBody>
      </p:sp>
      <p:sp>
        <p:nvSpPr>
          <p:cNvPr id="41" name="Text 39"/>
          <p:cNvSpPr/>
          <p:nvPr/>
        </p:nvSpPr>
        <p:spPr>
          <a:xfrm>
            <a:off x="9272526" y="3577133"/>
            <a:ext cx="1695720" cy="18463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8" b="1" dirty="0">
                <a:solidFill>
                  <a:srgbClr val="201E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Systems</a:t>
            </a:r>
            <a:endParaRPr lang="en-US" sz="808" dirty="0"/>
          </a:p>
        </p:txBody>
      </p:sp>
      <p:sp>
        <p:nvSpPr>
          <p:cNvPr id="42" name="Shape 40"/>
          <p:cNvSpPr/>
          <p:nvPr/>
        </p:nvSpPr>
        <p:spPr>
          <a:xfrm>
            <a:off x="8737074" y="3817163"/>
            <a:ext cx="2231171" cy="11078"/>
          </a:xfrm>
          <a:prstGeom prst="rect">
            <a:avLst/>
          </a:prstGeom>
          <a:solidFill>
            <a:srgbClr val="E9E6E9"/>
          </a:solidFill>
          <a:ln w="1270">
            <a:solidFill>
              <a:srgbClr val="E9E6E9">
                <a:alpha val="0"/>
              </a:srgbClr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8737074" y="3946410"/>
            <a:ext cx="507756" cy="18463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17" b="1" dirty="0">
                <a:solidFill>
                  <a:srgbClr val="E525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13:30</a:t>
            </a:r>
            <a:endParaRPr lang="en-US" sz="717" dirty="0"/>
          </a:p>
        </p:txBody>
      </p:sp>
      <p:sp>
        <p:nvSpPr>
          <p:cNvPr id="44" name="Text 42"/>
          <p:cNvSpPr/>
          <p:nvPr/>
        </p:nvSpPr>
        <p:spPr>
          <a:xfrm>
            <a:off x="9272526" y="3946410"/>
            <a:ext cx="1695720" cy="18463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8" b="1" dirty="0">
                <a:solidFill>
                  <a:srgbClr val="201E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Design Lab</a:t>
            </a:r>
            <a:endParaRPr lang="en-US" sz="808" dirty="0"/>
          </a:p>
        </p:txBody>
      </p:sp>
      <p:sp>
        <p:nvSpPr>
          <p:cNvPr id="45" name="Shape 43"/>
          <p:cNvSpPr/>
          <p:nvPr/>
        </p:nvSpPr>
        <p:spPr>
          <a:xfrm>
            <a:off x="8681683" y="4371078"/>
            <a:ext cx="2341954" cy="766250"/>
          </a:xfrm>
          <a:prstGeom prst="roundRect">
            <a:avLst>
              <a:gd name="adj" fmla="val 14320"/>
            </a:avLst>
          </a:prstGeom>
          <a:solidFill>
            <a:srgbClr val="F5F5F8"/>
          </a:solidFill>
          <a:ln w="1270">
            <a:solidFill>
              <a:srgbClr val="F5F5F8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8801698" y="4491093"/>
            <a:ext cx="2101924" cy="147711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07" b="1" spc="45" kern="0" dirty="0">
                <a:solidFill>
                  <a:srgbClr val="6D68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ATTENDANCE</a:t>
            </a:r>
            <a:endParaRPr lang="en-US" sz="707" dirty="0"/>
          </a:p>
        </p:txBody>
      </p:sp>
      <p:sp>
        <p:nvSpPr>
          <p:cNvPr id="47" name="Text 45"/>
          <p:cNvSpPr/>
          <p:nvPr/>
        </p:nvSpPr>
        <p:spPr>
          <a:xfrm>
            <a:off x="8801698" y="4666500"/>
            <a:ext cx="1288075" cy="20310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39" b="1" dirty="0">
                <a:solidFill>
                  <a:srgbClr val="201E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76% overall</a:t>
            </a:r>
            <a:endParaRPr lang="en-US" sz="939" dirty="0"/>
          </a:p>
        </p:txBody>
      </p:sp>
      <p:sp>
        <p:nvSpPr>
          <p:cNvPr id="48" name="Shape 46"/>
          <p:cNvSpPr/>
          <p:nvPr/>
        </p:nvSpPr>
        <p:spPr>
          <a:xfrm>
            <a:off x="8801698" y="4934225"/>
            <a:ext cx="2101924" cy="69239"/>
          </a:xfrm>
          <a:prstGeom prst="roundRect">
            <a:avLst>
              <a:gd name="adj" fmla="val 158477"/>
            </a:avLst>
          </a:prstGeom>
          <a:solidFill>
            <a:srgbClr val="E3E1E5"/>
          </a:solidFill>
          <a:ln w="1270">
            <a:solidFill>
              <a:srgbClr val="E3E1E5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8801698" y="4934225"/>
            <a:ext cx="1597462" cy="69239"/>
          </a:xfrm>
          <a:prstGeom prst="roundRect">
            <a:avLst>
              <a:gd name="adj" fmla="val 158477"/>
            </a:avLst>
          </a:prstGeom>
          <a:solidFill>
            <a:srgbClr val="E52535"/>
          </a:solidFill>
          <a:ln w="1270">
            <a:solidFill>
              <a:srgbClr val="E52535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8690915" y="5321966"/>
            <a:ext cx="2323490" cy="11078"/>
          </a:xfrm>
          <a:prstGeom prst="rect">
            <a:avLst/>
          </a:prstGeom>
          <a:solidFill>
            <a:srgbClr val="E9E6E9"/>
          </a:solidFill>
          <a:ln w="1270">
            <a:solidFill>
              <a:srgbClr val="E9E6E9">
                <a:alpha val="0"/>
              </a:srgbClr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8866321" y="5460445"/>
            <a:ext cx="230798" cy="20310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9" b="1" dirty="0">
                <a:solidFill>
                  <a:srgbClr val="E525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⌂</a:t>
            </a:r>
            <a:endParaRPr lang="en-US" sz="959" dirty="0"/>
          </a:p>
        </p:txBody>
      </p:sp>
      <p:sp>
        <p:nvSpPr>
          <p:cNvPr id="52" name="Text 50"/>
          <p:cNvSpPr/>
          <p:nvPr/>
        </p:nvSpPr>
        <p:spPr>
          <a:xfrm>
            <a:off x="9383309" y="5460445"/>
            <a:ext cx="230798" cy="20310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9" dirty="0">
                <a:solidFill>
                  <a:srgbClr val="8D88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◷</a:t>
            </a:r>
            <a:endParaRPr lang="en-US" sz="959" dirty="0"/>
          </a:p>
        </p:txBody>
      </p:sp>
      <p:sp>
        <p:nvSpPr>
          <p:cNvPr id="53" name="Text 51"/>
          <p:cNvSpPr/>
          <p:nvPr/>
        </p:nvSpPr>
        <p:spPr>
          <a:xfrm>
            <a:off x="9900297" y="5460445"/>
            <a:ext cx="230798" cy="20310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9" dirty="0">
                <a:solidFill>
                  <a:srgbClr val="8D88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▤</a:t>
            </a:r>
            <a:endParaRPr lang="en-US" sz="959" dirty="0"/>
          </a:p>
        </p:txBody>
      </p:sp>
      <p:sp>
        <p:nvSpPr>
          <p:cNvPr id="54" name="Text 52"/>
          <p:cNvSpPr/>
          <p:nvPr/>
        </p:nvSpPr>
        <p:spPr>
          <a:xfrm>
            <a:off x="10417284" y="5460445"/>
            <a:ext cx="230798" cy="20310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9" dirty="0">
                <a:solidFill>
                  <a:srgbClr val="8D88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○</a:t>
            </a:r>
            <a:endParaRPr lang="en-US" sz="959" dirty="0"/>
          </a:p>
        </p:txBody>
      </p:sp>
      <p:sp>
        <p:nvSpPr>
          <p:cNvPr id="55" name="Shape 53"/>
          <p:cNvSpPr/>
          <p:nvPr/>
        </p:nvSpPr>
        <p:spPr>
          <a:xfrm>
            <a:off x="10737448" y="1167601"/>
            <a:ext cx="203102" cy="203102"/>
          </a:xfrm>
          <a:prstGeom prst="ellipse">
            <a:avLst/>
          </a:prstGeom>
          <a:solidFill>
            <a:srgbClr val="FCE9EC"/>
          </a:solidFill>
          <a:ln w="1270">
            <a:solidFill>
              <a:srgbClr val="FCE9EC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10774375" y="1199913"/>
            <a:ext cx="138479" cy="138479"/>
          </a:xfrm>
          <a:prstGeom prst="triangle">
            <a:avLst/>
          </a:prstGeom>
          <a:solidFill>
            <a:srgbClr val="E52535"/>
          </a:solidFill>
          <a:ln w="1270">
            <a:solidFill>
              <a:srgbClr val="E52535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7232904" y="4676242"/>
            <a:ext cx="658368" cy="658368"/>
          </a:xfrm>
          <a:prstGeom prst="triangle">
            <a:avLst/>
          </a:prstGeom>
          <a:solidFill>
            <a:srgbClr val="A91627"/>
          </a:solidFill>
          <a:ln w="1270">
            <a:solidFill>
              <a:srgbClr val="A91627"/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7178040" y="4617720"/>
            <a:ext cx="658368" cy="658368"/>
          </a:xfrm>
          <a:prstGeom prst="triangle">
            <a:avLst/>
          </a:prstGeom>
          <a:solidFill>
            <a:srgbClr val="FF5967"/>
          </a:solidFill>
          <a:ln w="1270">
            <a:solidFill>
              <a:srgbClr val="FF5967"/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 rot="10800000">
            <a:off x="7521854" y="4903013"/>
            <a:ext cx="212141" cy="285293"/>
          </a:xfrm>
          <a:prstGeom prst="rtTriangle">
            <a:avLst/>
          </a:prstGeom>
          <a:solidFill>
            <a:srgbClr val="FF8993">
              <a:alpha val="87000"/>
            </a:srgbClr>
          </a:solidFill>
          <a:ln w="1270">
            <a:solidFill>
              <a:srgbClr val="FF8993">
                <a:alpha val="0"/>
              </a:srgbClr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7408469" y="4943246"/>
            <a:ext cx="54864" cy="54864"/>
          </a:xfrm>
          <a:prstGeom prst="ellipse">
            <a:avLst/>
          </a:prstGeom>
          <a:solidFill>
            <a:srgbClr val="FFFFFF"/>
          </a:solidFill>
          <a:ln w="1270">
            <a:solidFill>
              <a:srgbClr val="FFFFFF"/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>
            <a:off x="7573061" y="4943246"/>
            <a:ext cx="54864" cy="54864"/>
          </a:xfrm>
          <a:prstGeom prst="ellipse">
            <a:avLst/>
          </a:prstGeom>
          <a:solidFill>
            <a:srgbClr val="FFFFFF"/>
          </a:solidFill>
          <a:ln w="1270">
            <a:solidFill>
              <a:srgbClr val="FFFFFF"/>
            </a:solidFill>
            <a:prstDash val="solid"/>
          </a:ln>
        </p:spPr>
      </p:sp>
      <p:sp>
        <p:nvSpPr>
          <p:cNvPr id="62" name="Shape 60"/>
          <p:cNvSpPr/>
          <p:nvPr/>
        </p:nvSpPr>
        <p:spPr>
          <a:xfrm>
            <a:off x="7474306" y="5052974"/>
            <a:ext cx="117043" cy="25603"/>
          </a:xfrm>
          <a:prstGeom prst="roundRect">
            <a:avLst>
              <a:gd name="adj" fmla="val 428575"/>
            </a:avLst>
          </a:prstGeom>
          <a:solidFill>
            <a:srgbClr val="FFFFFF"/>
          </a:solidFill>
          <a:ln w="1270">
            <a:solidFill>
              <a:srgbClr val="FFFFFF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6757416" y="5477256"/>
            <a:ext cx="127101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2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app for classes,</a:t>
            </a:r>
            <a:endParaRPr lang="en-US" sz="820" dirty="0"/>
          </a:p>
          <a:p>
            <a:pPr algn="ctr" indent="0" marL="0">
              <a:buNone/>
            </a:pPr>
            <a:r>
              <a:rPr lang="en-US" sz="82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progress &amp; campus life.</a:t>
            </a:r>
            <a:endParaRPr lang="en-US" sz="82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85216" y="384048"/>
            <a:ext cx="7772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b="1" spc="125" kern="0" dirty="0">
                <a:solidFill>
                  <a:srgbClr val="E525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CHALLENGE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585216" y="704088"/>
            <a:ext cx="1097280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200" b="1" spc="-45" kern="0" dirty="0">
                <a:solidFill>
                  <a:srgbClr val="201E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 life runs on separate tracks.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603504" y="1353312"/>
            <a:ext cx="10835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50" dirty="0">
                <a:solidFill>
                  <a:srgbClr val="6D68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Students switch between disconnected places to plan classes, check progress, and stay involved.</a:t>
            </a:r>
            <a:endParaRPr lang="en-US" sz="1450" dirty="0"/>
          </a:p>
        </p:txBody>
      </p:sp>
      <p:sp>
        <p:nvSpPr>
          <p:cNvPr id="5" name="Text 3"/>
          <p:cNvSpPr/>
          <p:nvPr/>
        </p:nvSpPr>
        <p:spPr>
          <a:xfrm>
            <a:off x="658368" y="1993392"/>
            <a:ext cx="4206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b="1" spc="110" kern="0" dirty="0">
                <a:solidFill>
                  <a:srgbClr val="E525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SCATTERED TOOLKIT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658368" y="2359152"/>
            <a:ext cx="2267712" cy="1170432"/>
          </a:xfrm>
          <a:prstGeom prst="roundRect">
            <a:avLst>
              <a:gd name="adj" fmla="val 9375"/>
            </a:avLst>
          </a:prstGeom>
          <a:solidFill>
            <a:srgbClr val="FFFFFF"/>
          </a:solidFill>
          <a:ln w="8890">
            <a:solidFill>
              <a:srgbClr val="E9E6E9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13816" y="2532888"/>
            <a:ext cx="393192" cy="393192"/>
          </a:xfrm>
          <a:prstGeom prst="ellipse">
            <a:avLst/>
          </a:prstGeom>
          <a:solidFill>
            <a:srgbClr val="EAF0FF"/>
          </a:solidFill>
          <a:ln w="1270">
            <a:solidFill>
              <a:srgbClr val="EAF0F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13816" y="2537460"/>
            <a:ext cx="3931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5577C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316736" y="2505456"/>
            <a:ext cx="1435608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201E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Timetable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316736" y="2843784"/>
            <a:ext cx="146304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40" dirty="0">
                <a:solidFill>
                  <a:srgbClr val="6D68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When is my next class?</a:t>
            </a:r>
            <a:endParaRPr lang="en-US" sz="1140" dirty="0"/>
          </a:p>
        </p:txBody>
      </p:sp>
      <p:sp>
        <p:nvSpPr>
          <p:cNvPr id="11" name="Shape 9"/>
          <p:cNvSpPr/>
          <p:nvPr/>
        </p:nvSpPr>
        <p:spPr>
          <a:xfrm>
            <a:off x="841248" y="3145536"/>
            <a:ext cx="68580" cy="68580"/>
          </a:xfrm>
          <a:prstGeom prst="ellipse">
            <a:avLst/>
          </a:prstGeom>
          <a:solidFill>
            <a:srgbClr val="E52535"/>
          </a:solidFill>
          <a:ln w="1270">
            <a:solidFill>
              <a:srgbClr val="E5253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87552" y="3118104"/>
            <a:ext cx="9144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A39E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standalone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3163824" y="2359152"/>
            <a:ext cx="2267712" cy="1170432"/>
          </a:xfrm>
          <a:prstGeom prst="roundRect">
            <a:avLst>
              <a:gd name="adj" fmla="val 9375"/>
            </a:avLst>
          </a:prstGeom>
          <a:solidFill>
            <a:srgbClr val="FFFFFF"/>
          </a:solidFill>
          <a:ln w="8890">
            <a:solidFill>
              <a:srgbClr val="E9E6E9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319272" y="2532888"/>
            <a:ext cx="393192" cy="393192"/>
          </a:xfrm>
          <a:prstGeom prst="ellipse">
            <a:avLst/>
          </a:prstGeom>
          <a:solidFill>
            <a:srgbClr val="FCE9EC"/>
          </a:solidFill>
          <a:ln w="1270">
            <a:solidFill>
              <a:srgbClr val="FCE9E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319272" y="2537460"/>
            <a:ext cx="3931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525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3822192" y="2505456"/>
            <a:ext cx="1435608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201E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Attendance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3822192" y="2843784"/>
            <a:ext cx="146304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40" dirty="0">
                <a:solidFill>
                  <a:srgbClr val="6D68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Where do I stand?</a:t>
            </a:r>
            <a:endParaRPr lang="en-US" sz="1140" dirty="0"/>
          </a:p>
        </p:txBody>
      </p:sp>
      <p:sp>
        <p:nvSpPr>
          <p:cNvPr id="18" name="Shape 16"/>
          <p:cNvSpPr/>
          <p:nvPr/>
        </p:nvSpPr>
        <p:spPr>
          <a:xfrm>
            <a:off x="3346704" y="3145536"/>
            <a:ext cx="68580" cy="68580"/>
          </a:xfrm>
          <a:prstGeom prst="ellipse">
            <a:avLst/>
          </a:prstGeom>
          <a:solidFill>
            <a:srgbClr val="E52535"/>
          </a:solidFill>
          <a:ln w="1270">
            <a:solidFill>
              <a:srgbClr val="E52535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493008" y="3118104"/>
            <a:ext cx="9144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A39E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standalone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658368" y="3831336"/>
            <a:ext cx="2267712" cy="1170432"/>
          </a:xfrm>
          <a:prstGeom prst="roundRect">
            <a:avLst>
              <a:gd name="adj" fmla="val 9375"/>
            </a:avLst>
          </a:prstGeom>
          <a:solidFill>
            <a:srgbClr val="FFFFFF"/>
          </a:solidFill>
          <a:ln w="8890">
            <a:solidFill>
              <a:srgbClr val="E9E6E9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813816" y="4005072"/>
            <a:ext cx="393192" cy="393192"/>
          </a:xfrm>
          <a:prstGeom prst="ellipse">
            <a:avLst/>
          </a:prstGeom>
          <a:solidFill>
            <a:srgbClr val="FFF4D8"/>
          </a:solidFill>
          <a:ln w="1270">
            <a:solidFill>
              <a:srgbClr val="FFF4D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13816" y="4009644"/>
            <a:ext cx="3931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A5741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1316736" y="3977640"/>
            <a:ext cx="1435608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201E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Classroom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1316736" y="4315968"/>
            <a:ext cx="146304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40" dirty="0">
                <a:solidFill>
                  <a:srgbClr val="6D68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is due next?</a:t>
            </a:r>
            <a:endParaRPr lang="en-US" sz="1140" dirty="0"/>
          </a:p>
        </p:txBody>
      </p:sp>
      <p:sp>
        <p:nvSpPr>
          <p:cNvPr id="25" name="Shape 23"/>
          <p:cNvSpPr/>
          <p:nvPr/>
        </p:nvSpPr>
        <p:spPr>
          <a:xfrm>
            <a:off x="841248" y="4617720"/>
            <a:ext cx="68580" cy="68580"/>
          </a:xfrm>
          <a:prstGeom prst="ellipse">
            <a:avLst/>
          </a:prstGeom>
          <a:solidFill>
            <a:srgbClr val="E52535"/>
          </a:solidFill>
          <a:ln w="1270">
            <a:solidFill>
              <a:srgbClr val="E52535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987552" y="4590288"/>
            <a:ext cx="9144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A39E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standalone</a:t>
            </a:r>
            <a:endParaRPr lang="en-US" sz="850" dirty="0"/>
          </a:p>
        </p:txBody>
      </p:sp>
      <p:sp>
        <p:nvSpPr>
          <p:cNvPr id="27" name="Shape 25"/>
          <p:cNvSpPr/>
          <p:nvPr/>
        </p:nvSpPr>
        <p:spPr>
          <a:xfrm>
            <a:off x="3163824" y="3831336"/>
            <a:ext cx="2267712" cy="1170432"/>
          </a:xfrm>
          <a:prstGeom prst="roundRect">
            <a:avLst>
              <a:gd name="adj" fmla="val 9375"/>
            </a:avLst>
          </a:prstGeom>
          <a:solidFill>
            <a:srgbClr val="FFFFFF"/>
          </a:solidFill>
          <a:ln w="8890">
            <a:solidFill>
              <a:srgbClr val="E9E6E9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3319272" y="4005072"/>
            <a:ext cx="393192" cy="393192"/>
          </a:xfrm>
          <a:prstGeom prst="ellipse">
            <a:avLst/>
          </a:prstGeom>
          <a:solidFill>
            <a:srgbClr val="E5F4F1"/>
          </a:solidFill>
          <a:ln w="1270">
            <a:solidFill>
              <a:srgbClr val="E5F4F1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319272" y="4009644"/>
            <a:ext cx="3931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328C8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3822192" y="3977640"/>
            <a:ext cx="1435608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201E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Campus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3822192" y="4315968"/>
            <a:ext cx="146304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40" dirty="0">
                <a:solidFill>
                  <a:srgbClr val="6D68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is happening?</a:t>
            </a:r>
            <a:endParaRPr lang="en-US" sz="1140" dirty="0"/>
          </a:p>
        </p:txBody>
      </p:sp>
      <p:sp>
        <p:nvSpPr>
          <p:cNvPr id="32" name="Shape 30"/>
          <p:cNvSpPr/>
          <p:nvPr/>
        </p:nvSpPr>
        <p:spPr>
          <a:xfrm>
            <a:off x="3346704" y="4617720"/>
            <a:ext cx="68580" cy="68580"/>
          </a:xfrm>
          <a:prstGeom prst="ellipse">
            <a:avLst/>
          </a:prstGeom>
          <a:solidFill>
            <a:srgbClr val="E52535"/>
          </a:solidFill>
          <a:ln w="1270">
            <a:solidFill>
              <a:srgbClr val="E52535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493008" y="4590288"/>
            <a:ext cx="9144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A39E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standalone</a:t>
            </a:r>
            <a:endParaRPr lang="en-US" sz="850" dirty="0"/>
          </a:p>
        </p:txBody>
      </p:sp>
      <p:sp>
        <p:nvSpPr>
          <p:cNvPr id="34" name="Text 32"/>
          <p:cNvSpPr/>
          <p:nvPr/>
        </p:nvSpPr>
        <p:spPr>
          <a:xfrm>
            <a:off x="5897880" y="1993392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b="1" spc="110" kern="0" dirty="0">
                <a:solidFill>
                  <a:srgbClr val="E525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STUDENT COST</a:t>
            </a:r>
            <a:endParaRPr lang="en-US" sz="950" dirty="0"/>
          </a:p>
        </p:txBody>
      </p:sp>
      <p:sp>
        <p:nvSpPr>
          <p:cNvPr id="35" name="Shape 33"/>
          <p:cNvSpPr/>
          <p:nvPr/>
        </p:nvSpPr>
        <p:spPr>
          <a:xfrm>
            <a:off x="5897880" y="2340864"/>
            <a:ext cx="5623560" cy="978408"/>
          </a:xfrm>
          <a:prstGeom prst="roundRect">
            <a:avLst>
              <a:gd name="adj" fmla="val 11215"/>
            </a:avLst>
          </a:prstGeom>
          <a:solidFill>
            <a:srgbClr val="FFFFFF"/>
          </a:solidFill>
          <a:ln w="8255">
            <a:solidFill>
              <a:srgbClr val="E9E6E9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6108192" y="2587752"/>
            <a:ext cx="438912" cy="438912"/>
          </a:xfrm>
          <a:prstGeom prst="ellipse">
            <a:avLst/>
          </a:prstGeom>
          <a:solidFill>
            <a:srgbClr val="FCE9EC"/>
          </a:solidFill>
          <a:ln w="1270">
            <a:solidFill>
              <a:srgbClr val="FCE9EC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108192" y="2592324"/>
            <a:ext cx="43891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E525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6729984" y="2496312"/>
            <a:ext cx="4407408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50" b="1" dirty="0">
                <a:solidFill>
                  <a:srgbClr val="201E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What’s next?</a:t>
            </a:r>
            <a:endParaRPr lang="en-US" sz="1650" dirty="0"/>
          </a:p>
        </p:txBody>
      </p:sp>
      <p:sp>
        <p:nvSpPr>
          <p:cNvPr id="39" name="Text 37"/>
          <p:cNvSpPr/>
          <p:nvPr/>
        </p:nvSpPr>
        <p:spPr>
          <a:xfrm>
            <a:off x="6729984" y="2825496"/>
            <a:ext cx="4425696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40" dirty="0">
                <a:solidFill>
                  <a:srgbClr val="6D68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Class times and reminders can be easy to miss.</a:t>
            </a:r>
            <a:endParaRPr lang="en-US" sz="1240" dirty="0"/>
          </a:p>
        </p:txBody>
      </p:sp>
      <p:sp>
        <p:nvSpPr>
          <p:cNvPr id="40" name="Shape 38"/>
          <p:cNvSpPr/>
          <p:nvPr/>
        </p:nvSpPr>
        <p:spPr>
          <a:xfrm>
            <a:off x="5897880" y="3566160"/>
            <a:ext cx="5623560" cy="978408"/>
          </a:xfrm>
          <a:prstGeom prst="roundRect">
            <a:avLst>
              <a:gd name="adj" fmla="val 11215"/>
            </a:avLst>
          </a:prstGeom>
          <a:solidFill>
            <a:srgbClr val="FFFFFF"/>
          </a:solidFill>
          <a:ln w="8255">
            <a:solidFill>
              <a:srgbClr val="E9E6E9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6108192" y="3813048"/>
            <a:ext cx="438912" cy="438912"/>
          </a:xfrm>
          <a:prstGeom prst="ellipse">
            <a:avLst/>
          </a:prstGeom>
          <a:solidFill>
            <a:srgbClr val="FCE9EC"/>
          </a:solidFill>
          <a:ln w="1270">
            <a:solidFill>
              <a:srgbClr val="FCE9EC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6108192" y="3817620"/>
            <a:ext cx="43891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E525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000" dirty="0"/>
          </a:p>
        </p:txBody>
      </p:sp>
      <p:sp>
        <p:nvSpPr>
          <p:cNvPr id="43" name="Text 41"/>
          <p:cNvSpPr/>
          <p:nvPr/>
        </p:nvSpPr>
        <p:spPr>
          <a:xfrm>
            <a:off x="6729984" y="3721608"/>
            <a:ext cx="4407408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50" b="1" dirty="0">
                <a:solidFill>
                  <a:srgbClr val="201E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Where do I check?</a:t>
            </a:r>
            <a:endParaRPr lang="en-US" sz="1650" dirty="0"/>
          </a:p>
        </p:txBody>
      </p:sp>
      <p:sp>
        <p:nvSpPr>
          <p:cNvPr id="44" name="Text 42"/>
          <p:cNvSpPr/>
          <p:nvPr/>
        </p:nvSpPr>
        <p:spPr>
          <a:xfrm>
            <a:off x="6729984" y="4050792"/>
            <a:ext cx="4425696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40" dirty="0">
                <a:solidFill>
                  <a:srgbClr val="6D68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Attendance, coursework, and notices feel scattered.</a:t>
            </a:r>
            <a:endParaRPr lang="en-US" sz="1240" dirty="0"/>
          </a:p>
        </p:txBody>
      </p:sp>
      <p:sp>
        <p:nvSpPr>
          <p:cNvPr id="45" name="Shape 43"/>
          <p:cNvSpPr/>
          <p:nvPr/>
        </p:nvSpPr>
        <p:spPr>
          <a:xfrm>
            <a:off x="5897880" y="4791456"/>
            <a:ext cx="5623560" cy="978408"/>
          </a:xfrm>
          <a:prstGeom prst="roundRect">
            <a:avLst>
              <a:gd name="adj" fmla="val 11215"/>
            </a:avLst>
          </a:prstGeom>
          <a:solidFill>
            <a:srgbClr val="FFFFFF"/>
          </a:solidFill>
          <a:ln w="8255">
            <a:solidFill>
              <a:srgbClr val="E9E6E9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6108192" y="5038344"/>
            <a:ext cx="438912" cy="438912"/>
          </a:xfrm>
          <a:prstGeom prst="ellipse">
            <a:avLst/>
          </a:prstGeom>
          <a:solidFill>
            <a:srgbClr val="FCE9EC"/>
          </a:solidFill>
          <a:ln w="1270">
            <a:solidFill>
              <a:srgbClr val="FCE9EC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6108192" y="5042916"/>
            <a:ext cx="43891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E525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000" dirty="0"/>
          </a:p>
        </p:txBody>
      </p:sp>
      <p:sp>
        <p:nvSpPr>
          <p:cNvPr id="48" name="Text 46"/>
          <p:cNvSpPr/>
          <p:nvPr/>
        </p:nvSpPr>
        <p:spPr>
          <a:xfrm>
            <a:off x="6729984" y="4946904"/>
            <a:ext cx="4407408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50" b="1" dirty="0">
                <a:solidFill>
                  <a:srgbClr val="201E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do I join in?</a:t>
            </a:r>
            <a:endParaRPr lang="en-US" sz="1650" dirty="0"/>
          </a:p>
        </p:txBody>
      </p:sp>
      <p:sp>
        <p:nvSpPr>
          <p:cNvPr id="49" name="Text 47"/>
          <p:cNvSpPr/>
          <p:nvPr/>
        </p:nvSpPr>
        <p:spPr>
          <a:xfrm>
            <a:off x="6729984" y="5276088"/>
            <a:ext cx="4425696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40" dirty="0">
                <a:solidFill>
                  <a:srgbClr val="6D68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Campus events and student life are hard to discover.</a:t>
            </a:r>
            <a:endParaRPr lang="en-US" sz="124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355080"/>
            <a:ext cx="228600" cy="219456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800">
                <a:solidFill>
                  <a:srgbClr val="6F6A71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85216" y="384048"/>
            <a:ext cx="7772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b="1" spc="125" kern="0" dirty="0">
                <a:solidFill>
                  <a:srgbClr val="E525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IDEA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585216" y="704088"/>
            <a:ext cx="1097280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200" b="1" spc="-45" kern="0" dirty="0">
                <a:solidFill>
                  <a:srgbClr val="201E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Meet your campus, all in one place.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603504" y="1353312"/>
            <a:ext cx="10835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50" dirty="0">
                <a:solidFill>
                  <a:srgbClr val="6D68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 Digital Campus connects the everyday actions students already need into one friendly home.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2743200" y="2770632"/>
            <a:ext cx="2157984" cy="731520"/>
          </a:xfrm>
          <a:prstGeom prst="line">
            <a:avLst/>
          </a:prstGeom>
          <a:noFill/>
          <a:ln w="17780">
            <a:solidFill>
              <a:srgbClr val="E9B9BF"/>
            </a:solidFill>
            <a:prstDash val="dash"/>
          </a:ln>
        </p:spPr>
      </p:sp>
      <p:sp>
        <p:nvSpPr>
          <p:cNvPr id="6" name="Shape 4"/>
          <p:cNvSpPr/>
          <p:nvPr/>
        </p:nvSpPr>
        <p:spPr>
          <a:xfrm>
            <a:off x="7260336" y="2770632"/>
            <a:ext cx="2157984" cy="731520"/>
          </a:xfrm>
          <a:prstGeom prst="line">
            <a:avLst/>
          </a:prstGeom>
          <a:noFill/>
          <a:ln w="17780">
            <a:solidFill>
              <a:srgbClr val="E9B9BF"/>
            </a:solidFill>
            <a:prstDash val="dash"/>
          </a:ln>
        </p:spPr>
      </p:sp>
      <p:sp>
        <p:nvSpPr>
          <p:cNvPr id="7" name="Shape 5"/>
          <p:cNvSpPr/>
          <p:nvPr/>
        </p:nvSpPr>
        <p:spPr>
          <a:xfrm flipV="1">
            <a:off x="2743200" y="3502152"/>
            <a:ext cx="2157984" cy="658368"/>
          </a:xfrm>
          <a:prstGeom prst="line">
            <a:avLst/>
          </a:prstGeom>
          <a:noFill/>
          <a:ln w="17780">
            <a:solidFill>
              <a:srgbClr val="E9B9BF"/>
            </a:solidFill>
            <a:prstDash val="dash"/>
          </a:ln>
        </p:spPr>
      </p:sp>
      <p:sp>
        <p:nvSpPr>
          <p:cNvPr id="8" name="Shape 6"/>
          <p:cNvSpPr/>
          <p:nvPr/>
        </p:nvSpPr>
        <p:spPr>
          <a:xfrm flipV="1">
            <a:off x="7260336" y="3502152"/>
            <a:ext cx="2157984" cy="658368"/>
          </a:xfrm>
          <a:prstGeom prst="line">
            <a:avLst/>
          </a:prstGeom>
          <a:noFill/>
          <a:ln w="17780">
            <a:solidFill>
              <a:srgbClr val="E9B9BF"/>
            </a:solidFill>
            <a:prstDash val="dash"/>
          </a:ln>
        </p:spPr>
      </p:sp>
      <p:sp>
        <p:nvSpPr>
          <p:cNvPr id="9" name="Shape 7"/>
          <p:cNvSpPr/>
          <p:nvPr/>
        </p:nvSpPr>
        <p:spPr>
          <a:xfrm>
            <a:off x="685800" y="2240280"/>
            <a:ext cx="2350008" cy="1060704"/>
          </a:xfrm>
          <a:prstGeom prst="roundRect">
            <a:avLst>
              <a:gd name="adj" fmla="val 10345"/>
            </a:avLst>
          </a:prstGeom>
          <a:solidFill>
            <a:srgbClr val="FFFFFF"/>
          </a:solidFill>
          <a:ln w="9525">
            <a:solidFill>
              <a:srgbClr val="E9E6E9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50392" y="2551176"/>
            <a:ext cx="438912" cy="438912"/>
          </a:xfrm>
          <a:prstGeom prst="ellipse">
            <a:avLst/>
          </a:prstGeom>
          <a:solidFill>
            <a:srgbClr val="EAF0FF"/>
          </a:solidFill>
          <a:ln w="1270">
            <a:solidFill>
              <a:srgbClr val="EAF0F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50392" y="2555748"/>
            <a:ext cx="438912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5577C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435608" y="2441448"/>
            <a:ext cx="1417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b="1" spc="85" kern="0" dirty="0">
                <a:solidFill>
                  <a:srgbClr val="5577C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PLAN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1435608" y="2734056"/>
            <a:ext cx="1435608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50" b="1" dirty="0">
                <a:solidFill>
                  <a:srgbClr val="201E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Timetable + reminders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9144000" y="2240280"/>
            <a:ext cx="2350008" cy="1060704"/>
          </a:xfrm>
          <a:prstGeom prst="roundRect">
            <a:avLst>
              <a:gd name="adj" fmla="val 10345"/>
            </a:avLst>
          </a:prstGeom>
          <a:solidFill>
            <a:srgbClr val="FFFFFF"/>
          </a:solidFill>
          <a:ln w="9525">
            <a:solidFill>
              <a:srgbClr val="E9E6E9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9308592" y="2551176"/>
            <a:ext cx="438912" cy="438912"/>
          </a:xfrm>
          <a:prstGeom prst="ellipse">
            <a:avLst/>
          </a:prstGeom>
          <a:solidFill>
            <a:srgbClr val="FFF4D8"/>
          </a:solidFill>
          <a:ln w="1270">
            <a:solidFill>
              <a:srgbClr val="FFF4D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308592" y="2555748"/>
            <a:ext cx="438912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A5741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9893808" y="2441448"/>
            <a:ext cx="1417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b="1" spc="85" kern="0" dirty="0">
                <a:solidFill>
                  <a:srgbClr val="A5741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LEARN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9893808" y="2734056"/>
            <a:ext cx="1435608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50" b="1" dirty="0">
                <a:solidFill>
                  <a:srgbClr val="201E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Classroom + deadlines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685800" y="3922776"/>
            <a:ext cx="2350008" cy="1060704"/>
          </a:xfrm>
          <a:prstGeom prst="roundRect">
            <a:avLst>
              <a:gd name="adj" fmla="val 10345"/>
            </a:avLst>
          </a:prstGeom>
          <a:solidFill>
            <a:srgbClr val="FFFFFF"/>
          </a:solidFill>
          <a:ln w="9525">
            <a:solidFill>
              <a:srgbClr val="E9E6E9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850392" y="4233672"/>
            <a:ext cx="438912" cy="438912"/>
          </a:xfrm>
          <a:prstGeom prst="ellipse">
            <a:avLst/>
          </a:prstGeom>
          <a:solidFill>
            <a:srgbClr val="FCE9EC"/>
          </a:solidFill>
          <a:ln w="1270">
            <a:solidFill>
              <a:srgbClr val="FCE9EC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50392" y="4238244"/>
            <a:ext cx="438912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525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1435608" y="4123944"/>
            <a:ext cx="1417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b="1" spc="85" kern="0" dirty="0">
                <a:solidFill>
                  <a:srgbClr val="E525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TRACK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1435608" y="4416552"/>
            <a:ext cx="1435608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50" b="1" dirty="0">
                <a:solidFill>
                  <a:srgbClr val="201E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Attendance + insights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9144000" y="3922776"/>
            <a:ext cx="2350008" cy="1060704"/>
          </a:xfrm>
          <a:prstGeom prst="roundRect">
            <a:avLst>
              <a:gd name="adj" fmla="val 10345"/>
            </a:avLst>
          </a:prstGeom>
          <a:solidFill>
            <a:srgbClr val="FFFFFF"/>
          </a:solidFill>
          <a:ln w="9525">
            <a:solidFill>
              <a:srgbClr val="E9E6E9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9308592" y="4233672"/>
            <a:ext cx="438912" cy="438912"/>
          </a:xfrm>
          <a:prstGeom prst="ellipse">
            <a:avLst/>
          </a:prstGeom>
          <a:solidFill>
            <a:srgbClr val="E5F4F1"/>
          </a:solidFill>
          <a:ln w="1270">
            <a:solidFill>
              <a:srgbClr val="E5F4F1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9308592" y="4238244"/>
            <a:ext cx="438912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328C8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9893808" y="4123944"/>
            <a:ext cx="1417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b="1" spc="85" kern="0" dirty="0">
                <a:solidFill>
                  <a:srgbClr val="328C8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CONNECT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9893808" y="4416552"/>
            <a:ext cx="1435608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50" b="1" dirty="0">
                <a:solidFill>
                  <a:srgbClr val="201E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Campus Hub + feed</a:t>
            </a:r>
            <a:endParaRPr lang="en-US" sz="1150" dirty="0"/>
          </a:p>
        </p:txBody>
      </p:sp>
      <p:sp>
        <p:nvSpPr>
          <p:cNvPr id="29" name="Shape 27"/>
          <p:cNvSpPr/>
          <p:nvPr/>
        </p:nvSpPr>
        <p:spPr>
          <a:xfrm>
            <a:off x="4718304" y="2231136"/>
            <a:ext cx="2779776" cy="2788920"/>
          </a:xfrm>
          <a:prstGeom prst="roundRect">
            <a:avLst>
              <a:gd name="adj" fmla="val 3947"/>
            </a:avLst>
          </a:prstGeom>
          <a:solidFill>
            <a:srgbClr val="E52535"/>
          </a:solidFill>
          <a:ln w="1270">
            <a:solidFill>
              <a:srgbClr val="E52535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5358384" y="2523744"/>
            <a:ext cx="1481328" cy="1481328"/>
          </a:xfrm>
          <a:prstGeom prst="ellipse">
            <a:avLst/>
          </a:prstGeom>
          <a:solidFill>
            <a:srgbClr val="F55361"/>
          </a:solidFill>
          <a:ln w="1270">
            <a:solidFill>
              <a:srgbClr val="F55361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5679338" y="2739908"/>
            <a:ext cx="888797" cy="888797"/>
          </a:xfrm>
          <a:prstGeom prst="triangle">
            <a:avLst/>
          </a:prstGeom>
          <a:solidFill>
            <a:srgbClr val="A91627"/>
          </a:solidFill>
          <a:ln w="1270">
            <a:solidFill>
              <a:srgbClr val="A91627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5605272" y="2660904"/>
            <a:ext cx="888797" cy="888797"/>
          </a:xfrm>
          <a:prstGeom prst="triangle">
            <a:avLst/>
          </a:prstGeom>
          <a:solidFill>
            <a:srgbClr val="E52535"/>
          </a:solidFill>
          <a:ln w="1270">
            <a:solidFill>
              <a:srgbClr val="E52535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 rot="10800000">
            <a:off x="6069421" y="3046049"/>
            <a:ext cx="286390" cy="385145"/>
          </a:xfrm>
          <a:prstGeom prst="rtTriangle">
            <a:avLst/>
          </a:prstGeom>
          <a:solidFill>
            <a:srgbClr val="FF8791">
              <a:alpha val="87000"/>
            </a:srgbClr>
          </a:solidFill>
          <a:ln w="1270">
            <a:solidFill>
              <a:srgbClr val="FF8791">
                <a:alpha val="0"/>
              </a:srgbClr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5916351" y="3100365"/>
            <a:ext cx="74066" cy="74066"/>
          </a:xfrm>
          <a:prstGeom prst="ellipse">
            <a:avLst/>
          </a:prstGeom>
          <a:solidFill>
            <a:srgbClr val="FFFFFF"/>
          </a:solidFill>
          <a:ln w="1270">
            <a:solidFill>
              <a:srgbClr val="FFFFFF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6138550" y="3100365"/>
            <a:ext cx="74066" cy="74066"/>
          </a:xfrm>
          <a:prstGeom prst="ellipse">
            <a:avLst/>
          </a:prstGeom>
          <a:solidFill>
            <a:srgbClr val="FFFFFF"/>
          </a:solidFill>
          <a:ln w="1270">
            <a:solidFill>
              <a:srgbClr val="FFFFFF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6005231" y="3248497"/>
            <a:ext cx="158008" cy="34564"/>
          </a:xfrm>
          <a:prstGeom prst="roundRect">
            <a:avLst>
              <a:gd name="adj" fmla="val 317463"/>
            </a:avLst>
          </a:prstGeom>
          <a:solidFill>
            <a:srgbClr val="FFFFFF"/>
          </a:solidFill>
          <a:ln w="1270">
            <a:solidFill>
              <a:srgbClr val="FFFFFF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010912" y="4187952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50" b="1" spc="25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 DIGITAL CAMPUS</a:t>
            </a:r>
            <a:endParaRPr lang="en-US" sz="1350" dirty="0"/>
          </a:p>
        </p:txBody>
      </p:sp>
      <p:sp>
        <p:nvSpPr>
          <p:cNvPr id="38" name="Text 36"/>
          <p:cNvSpPr/>
          <p:nvPr/>
        </p:nvSpPr>
        <p:spPr>
          <a:xfrm>
            <a:off x="5010912" y="4526280"/>
            <a:ext cx="2194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dirty="0">
                <a:solidFill>
                  <a:srgbClr val="FFE8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student-first home</a:t>
            </a:r>
            <a:endParaRPr lang="en-US" sz="1050" dirty="0"/>
          </a:p>
        </p:txBody>
      </p:sp>
      <p:sp>
        <p:nvSpPr>
          <p:cNvPr id="39" name="Shape 37"/>
          <p:cNvSpPr/>
          <p:nvPr/>
        </p:nvSpPr>
        <p:spPr>
          <a:xfrm>
            <a:off x="3776472" y="5431536"/>
            <a:ext cx="4663440" cy="384048"/>
          </a:xfrm>
          <a:prstGeom prst="roundRect">
            <a:avLst>
              <a:gd name="adj" fmla="val 28571"/>
            </a:avLst>
          </a:prstGeom>
          <a:solidFill>
            <a:srgbClr val="FCE9EC"/>
          </a:solidFill>
          <a:ln w="1270">
            <a:solidFill>
              <a:srgbClr val="FCE9EC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3858768" y="5440680"/>
            <a:ext cx="44988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30" b="1" spc="35" kern="0" dirty="0">
                <a:solidFill>
                  <a:srgbClr val="A916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PLAN  ·  LEARN  ·  TRACK  ·  CONNECT</a:t>
            </a:r>
            <a:endParaRPr lang="en-US" sz="93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355080"/>
            <a:ext cx="228600" cy="219456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800">
                <a:solidFill>
                  <a:srgbClr val="6F6A71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85216" y="384048"/>
            <a:ext cx="7772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b="1" spc="125" kern="0" dirty="0">
                <a:solidFill>
                  <a:srgbClr val="E525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STUDENT DASHBOARD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585216" y="704088"/>
            <a:ext cx="1097280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200" b="1" spc="-45" kern="0" dirty="0">
                <a:solidFill>
                  <a:srgbClr val="201E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dashboard that starts with today.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603504" y="1353312"/>
            <a:ext cx="10835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50" dirty="0">
                <a:solidFill>
                  <a:srgbClr val="6D68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first screen answers the practical question: what should I know or do next?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850392" y="1810512"/>
            <a:ext cx="2258568" cy="283464"/>
          </a:xfrm>
          <a:prstGeom prst="roundRect">
            <a:avLst>
              <a:gd name="adj" fmla="val 38710"/>
            </a:avLst>
          </a:prstGeom>
          <a:solidFill>
            <a:srgbClr val="FCE9EC"/>
          </a:solidFill>
          <a:ln w="1270">
            <a:solidFill>
              <a:srgbClr val="FCE9E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32688" y="1819656"/>
            <a:ext cx="2093976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10" b="1" spc="35" kern="0" dirty="0">
                <a:solidFill>
                  <a:srgbClr val="A916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CONCEPT SCREEN  ·  SAMPLE DATA</a:t>
            </a:r>
            <a:endParaRPr lang="en-US" sz="810" dirty="0"/>
          </a:p>
        </p:txBody>
      </p:sp>
      <p:sp>
        <p:nvSpPr>
          <p:cNvPr id="7" name="Shape 5"/>
          <p:cNvSpPr/>
          <p:nvPr/>
        </p:nvSpPr>
        <p:spPr>
          <a:xfrm>
            <a:off x="786384" y="2157984"/>
            <a:ext cx="3246120" cy="4041648"/>
          </a:xfrm>
          <a:prstGeom prst="roundRect">
            <a:avLst>
              <a:gd name="adj" fmla="val 3380"/>
            </a:avLst>
          </a:prstGeom>
          <a:solidFill>
            <a:srgbClr val="242329"/>
          </a:solidFill>
          <a:ln w="7620">
            <a:solidFill>
              <a:srgbClr val="242329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964921" y="2336521"/>
            <a:ext cx="2889047" cy="3684575"/>
          </a:xfrm>
          <a:prstGeom prst="roundRect">
            <a:avLst>
              <a:gd name="adj" fmla="val 3798"/>
            </a:avLst>
          </a:prstGeom>
          <a:solidFill>
            <a:srgbClr val="FFFFFF"/>
          </a:solidFill>
          <a:ln w="1270">
            <a:solidFill>
              <a:srgbClr val="FFFFFF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052371" y="2352751"/>
            <a:ext cx="714146" cy="113614"/>
          </a:xfrm>
          <a:prstGeom prst="roundRect">
            <a:avLst>
              <a:gd name="adj" fmla="val 96580"/>
            </a:avLst>
          </a:prstGeom>
          <a:solidFill>
            <a:srgbClr val="242329"/>
          </a:solidFill>
          <a:ln w="1270">
            <a:solidFill>
              <a:srgbClr val="242329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87613" y="2423127"/>
            <a:ext cx="303124" cy="1154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68" b="1" dirty="0">
                <a:solidFill>
                  <a:srgbClr val="201E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9:41</a:t>
            </a:r>
            <a:endParaRPr lang="en-US" sz="568" dirty="0"/>
          </a:p>
        </p:txBody>
      </p:sp>
      <p:sp>
        <p:nvSpPr>
          <p:cNvPr id="11" name="Shape 9"/>
          <p:cNvSpPr/>
          <p:nvPr/>
        </p:nvSpPr>
        <p:spPr>
          <a:xfrm>
            <a:off x="3507540" y="2459213"/>
            <a:ext cx="46912" cy="46912"/>
          </a:xfrm>
          <a:prstGeom prst="ellipse">
            <a:avLst/>
          </a:prstGeom>
          <a:solidFill>
            <a:srgbClr val="201E24"/>
          </a:solidFill>
          <a:ln w="1270">
            <a:solidFill>
              <a:srgbClr val="201E24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594147" y="2459213"/>
            <a:ext cx="46912" cy="46912"/>
          </a:xfrm>
          <a:prstGeom prst="ellipse">
            <a:avLst/>
          </a:prstGeom>
          <a:solidFill>
            <a:srgbClr val="201E24"/>
          </a:solidFill>
          <a:ln w="1270">
            <a:solidFill>
              <a:srgbClr val="201E24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695188" y="2430345"/>
            <a:ext cx="86607" cy="64955"/>
          </a:xfrm>
          <a:prstGeom prst="rect">
            <a:avLst/>
          </a:prstGeom>
          <a:solidFill>
            <a:srgbClr val="201E24"/>
          </a:solidFill>
          <a:ln w="1270">
            <a:solidFill>
              <a:srgbClr val="201E24">
                <a:alpha val="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094831" y="2625210"/>
            <a:ext cx="2629227" cy="137127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68" b="1" spc="35" kern="0" dirty="0">
                <a:solidFill>
                  <a:srgbClr val="E525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  /  DIGITAL CAMPUS</a:t>
            </a:r>
            <a:endParaRPr lang="en-US" sz="568" dirty="0"/>
          </a:p>
        </p:txBody>
      </p:sp>
      <p:sp>
        <p:nvSpPr>
          <p:cNvPr id="15" name="Text 13"/>
          <p:cNvSpPr/>
          <p:nvPr/>
        </p:nvSpPr>
        <p:spPr>
          <a:xfrm>
            <a:off x="1094831" y="2820075"/>
            <a:ext cx="2629227" cy="4474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263" b="1" dirty="0">
                <a:solidFill>
                  <a:srgbClr val="201E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Good morning,</a:t>
            </a:r>
            <a:endParaRPr lang="en-US" sz="1263" dirty="0"/>
          </a:p>
          <a:p>
            <a:pPr indent="0" marL="0">
              <a:buNone/>
            </a:pPr>
            <a:r>
              <a:rPr lang="en-US" sz="1263" b="1" dirty="0">
                <a:solidFill>
                  <a:srgbClr val="201E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Rohan</a:t>
            </a:r>
            <a:endParaRPr lang="en-US" sz="1263" dirty="0"/>
          </a:p>
        </p:txBody>
      </p:sp>
      <p:sp>
        <p:nvSpPr>
          <p:cNvPr id="16" name="Text 14"/>
          <p:cNvSpPr/>
          <p:nvPr/>
        </p:nvSpPr>
        <p:spPr>
          <a:xfrm>
            <a:off x="1094831" y="3303629"/>
            <a:ext cx="2629227" cy="14434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37" b="1" spc="20" kern="0" dirty="0">
                <a:solidFill>
                  <a:srgbClr val="6D68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MONDAY  ·  YOUR DAY AT A GLANCE</a:t>
            </a:r>
            <a:endParaRPr lang="en-US" sz="537" dirty="0"/>
          </a:p>
        </p:txBody>
      </p:sp>
      <p:sp>
        <p:nvSpPr>
          <p:cNvPr id="17" name="Shape 15"/>
          <p:cNvSpPr/>
          <p:nvPr/>
        </p:nvSpPr>
        <p:spPr>
          <a:xfrm>
            <a:off x="1051527" y="3512929"/>
            <a:ext cx="2715833" cy="635116"/>
          </a:xfrm>
          <a:prstGeom prst="roundRect">
            <a:avLst>
              <a:gd name="adj" fmla="val 17277"/>
            </a:avLst>
          </a:prstGeom>
          <a:solidFill>
            <a:srgbClr val="FFF3F4"/>
          </a:solidFill>
          <a:ln w="7620">
            <a:solidFill>
              <a:srgbClr val="F8DCE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145351" y="3606753"/>
            <a:ext cx="2528185" cy="1154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53" b="1" spc="35" kern="0" dirty="0">
                <a:solidFill>
                  <a:srgbClr val="E525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NEXT CLASS  ·  09:00</a:t>
            </a:r>
            <a:endParaRPr lang="en-US" sz="553" dirty="0"/>
          </a:p>
        </p:txBody>
      </p:sp>
      <p:sp>
        <p:nvSpPr>
          <p:cNvPr id="19" name="Text 17"/>
          <p:cNvSpPr/>
          <p:nvPr/>
        </p:nvSpPr>
        <p:spPr>
          <a:xfrm>
            <a:off x="1145351" y="3758315"/>
            <a:ext cx="2528185" cy="14434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34" b="1" dirty="0">
                <a:solidFill>
                  <a:srgbClr val="201E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User Experience Design</a:t>
            </a:r>
            <a:endParaRPr lang="en-US" sz="734" dirty="0"/>
          </a:p>
        </p:txBody>
      </p:sp>
      <p:sp>
        <p:nvSpPr>
          <p:cNvPr id="20" name="Text 18"/>
          <p:cNvSpPr/>
          <p:nvPr/>
        </p:nvSpPr>
        <p:spPr>
          <a:xfrm>
            <a:off x="1145351" y="3924311"/>
            <a:ext cx="2528185" cy="10825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60" dirty="0">
                <a:solidFill>
                  <a:srgbClr val="6D68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Studio 204  ·  Block B</a:t>
            </a:r>
            <a:endParaRPr lang="en-US" sz="560" dirty="0"/>
          </a:p>
        </p:txBody>
      </p:sp>
      <p:sp>
        <p:nvSpPr>
          <p:cNvPr id="21" name="Text 19"/>
          <p:cNvSpPr/>
          <p:nvPr/>
        </p:nvSpPr>
        <p:spPr>
          <a:xfrm>
            <a:off x="1094831" y="4270738"/>
            <a:ext cx="2629227" cy="137127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08" b="1" spc="45" kern="0" dirty="0">
                <a:solidFill>
                  <a:srgbClr val="201E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COMING UP</a:t>
            </a:r>
            <a:endParaRPr lang="en-US" sz="608" dirty="0"/>
          </a:p>
        </p:txBody>
      </p:sp>
      <p:sp>
        <p:nvSpPr>
          <p:cNvPr id="22" name="Text 20"/>
          <p:cNvSpPr/>
          <p:nvPr/>
        </p:nvSpPr>
        <p:spPr>
          <a:xfrm>
            <a:off x="1094831" y="4494472"/>
            <a:ext cx="396948" cy="14434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60" b="1" dirty="0">
                <a:solidFill>
                  <a:srgbClr val="E525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11:00</a:t>
            </a:r>
            <a:endParaRPr lang="en-US" sz="560" dirty="0"/>
          </a:p>
        </p:txBody>
      </p:sp>
      <p:sp>
        <p:nvSpPr>
          <p:cNvPr id="23" name="Text 21"/>
          <p:cNvSpPr/>
          <p:nvPr/>
        </p:nvSpPr>
        <p:spPr>
          <a:xfrm>
            <a:off x="1513430" y="4494472"/>
            <a:ext cx="2210627" cy="14434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31" b="1" dirty="0">
                <a:solidFill>
                  <a:srgbClr val="201E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Systems</a:t>
            </a:r>
            <a:endParaRPr lang="en-US" sz="631" dirty="0"/>
          </a:p>
        </p:txBody>
      </p:sp>
      <p:sp>
        <p:nvSpPr>
          <p:cNvPr id="24" name="Shape 22"/>
          <p:cNvSpPr/>
          <p:nvPr/>
        </p:nvSpPr>
        <p:spPr>
          <a:xfrm>
            <a:off x="1094831" y="4682120"/>
            <a:ext cx="2629227" cy="8661"/>
          </a:xfrm>
          <a:prstGeom prst="rect">
            <a:avLst/>
          </a:prstGeom>
          <a:solidFill>
            <a:srgbClr val="E9E6E9"/>
          </a:solidFill>
          <a:ln w="1270">
            <a:solidFill>
              <a:srgbClr val="E9E6E9">
                <a:alpha val="0"/>
              </a:srgbClr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094831" y="4783161"/>
            <a:ext cx="396948" cy="14434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60" b="1" dirty="0">
                <a:solidFill>
                  <a:srgbClr val="E525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13:30</a:t>
            </a:r>
            <a:endParaRPr lang="en-US" sz="560" dirty="0"/>
          </a:p>
        </p:txBody>
      </p:sp>
      <p:sp>
        <p:nvSpPr>
          <p:cNvPr id="26" name="Text 24"/>
          <p:cNvSpPr/>
          <p:nvPr/>
        </p:nvSpPr>
        <p:spPr>
          <a:xfrm>
            <a:off x="1513430" y="4783161"/>
            <a:ext cx="2210627" cy="14434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31" b="1" dirty="0">
                <a:solidFill>
                  <a:srgbClr val="201E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Design Lab</a:t>
            </a:r>
            <a:endParaRPr lang="en-US" sz="631" dirty="0"/>
          </a:p>
        </p:txBody>
      </p:sp>
      <p:sp>
        <p:nvSpPr>
          <p:cNvPr id="27" name="Shape 25"/>
          <p:cNvSpPr/>
          <p:nvPr/>
        </p:nvSpPr>
        <p:spPr>
          <a:xfrm>
            <a:off x="1051527" y="5115154"/>
            <a:ext cx="2715833" cy="599030"/>
          </a:xfrm>
          <a:prstGeom prst="roundRect">
            <a:avLst>
              <a:gd name="adj" fmla="val 18318"/>
            </a:avLst>
          </a:prstGeom>
          <a:solidFill>
            <a:srgbClr val="F5F5F8"/>
          </a:solidFill>
          <a:ln w="1270">
            <a:solidFill>
              <a:srgbClr val="F5F5F8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1145351" y="5208978"/>
            <a:ext cx="2528185" cy="1154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53" b="1" spc="45" kern="0" dirty="0">
                <a:solidFill>
                  <a:srgbClr val="6D68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ATTENDANCE</a:t>
            </a:r>
            <a:endParaRPr lang="en-US" sz="553" dirty="0"/>
          </a:p>
        </p:txBody>
      </p:sp>
      <p:sp>
        <p:nvSpPr>
          <p:cNvPr id="29" name="Text 27"/>
          <p:cNvSpPr/>
          <p:nvPr/>
        </p:nvSpPr>
        <p:spPr>
          <a:xfrm>
            <a:off x="1145351" y="5346105"/>
            <a:ext cx="1493708" cy="158779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34" b="1" dirty="0">
                <a:solidFill>
                  <a:srgbClr val="201E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76% overall</a:t>
            </a:r>
            <a:endParaRPr lang="en-US" sz="734" dirty="0"/>
          </a:p>
        </p:txBody>
      </p:sp>
      <p:sp>
        <p:nvSpPr>
          <p:cNvPr id="30" name="Shape 28"/>
          <p:cNvSpPr/>
          <p:nvPr/>
        </p:nvSpPr>
        <p:spPr>
          <a:xfrm>
            <a:off x="1145351" y="5555405"/>
            <a:ext cx="2528185" cy="54129"/>
          </a:xfrm>
          <a:prstGeom prst="roundRect">
            <a:avLst>
              <a:gd name="adj" fmla="val 202716"/>
            </a:avLst>
          </a:prstGeom>
          <a:solidFill>
            <a:srgbClr val="E3E1E5"/>
          </a:solidFill>
          <a:ln w="1270">
            <a:solidFill>
              <a:srgbClr val="E3E1E5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1145351" y="5555405"/>
            <a:ext cx="1921421" cy="54129"/>
          </a:xfrm>
          <a:prstGeom prst="roundRect">
            <a:avLst>
              <a:gd name="adj" fmla="val 202716"/>
            </a:avLst>
          </a:prstGeom>
          <a:solidFill>
            <a:srgbClr val="E52535"/>
          </a:solidFill>
          <a:ln w="1270">
            <a:solidFill>
              <a:srgbClr val="E52535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1058745" y="5858528"/>
            <a:ext cx="2701399" cy="8661"/>
          </a:xfrm>
          <a:prstGeom prst="rect">
            <a:avLst/>
          </a:prstGeom>
          <a:solidFill>
            <a:srgbClr val="E9E6E9"/>
          </a:solidFill>
          <a:ln w="1270">
            <a:solidFill>
              <a:srgbClr val="E9E6E9">
                <a:alpha val="0"/>
              </a:srgbClr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1195872" y="5966787"/>
            <a:ext cx="180431" cy="158779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E525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⌂</a:t>
            </a:r>
            <a:endParaRPr lang="en-US" sz="750" dirty="0"/>
          </a:p>
        </p:txBody>
      </p:sp>
      <p:sp>
        <p:nvSpPr>
          <p:cNvPr id="34" name="Text 32"/>
          <p:cNvSpPr/>
          <p:nvPr/>
        </p:nvSpPr>
        <p:spPr>
          <a:xfrm>
            <a:off x="1600037" y="5966787"/>
            <a:ext cx="180431" cy="158779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50" dirty="0">
                <a:solidFill>
                  <a:srgbClr val="8D88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◷</a:t>
            </a:r>
            <a:endParaRPr lang="en-US" sz="750" dirty="0"/>
          </a:p>
        </p:txBody>
      </p:sp>
      <p:sp>
        <p:nvSpPr>
          <p:cNvPr id="35" name="Text 33"/>
          <p:cNvSpPr/>
          <p:nvPr/>
        </p:nvSpPr>
        <p:spPr>
          <a:xfrm>
            <a:off x="2004202" y="5966787"/>
            <a:ext cx="180431" cy="158779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50" dirty="0">
                <a:solidFill>
                  <a:srgbClr val="8D88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▤</a:t>
            </a:r>
            <a:endParaRPr lang="en-US" sz="750" dirty="0"/>
          </a:p>
        </p:txBody>
      </p:sp>
      <p:sp>
        <p:nvSpPr>
          <p:cNvPr id="36" name="Text 34"/>
          <p:cNvSpPr/>
          <p:nvPr/>
        </p:nvSpPr>
        <p:spPr>
          <a:xfrm>
            <a:off x="2408366" y="5966787"/>
            <a:ext cx="180431" cy="158779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50" dirty="0">
                <a:solidFill>
                  <a:srgbClr val="8D88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○</a:t>
            </a:r>
            <a:endParaRPr lang="en-US" sz="750" dirty="0"/>
          </a:p>
        </p:txBody>
      </p:sp>
      <p:sp>
        <p:nvSpPr>
          <p:cNvPr id="37" name="Text 35"/>
          <p:cNvSpPr/>
          <p:nvPr/>
        </p:nvSpPr>
        <p:spPr>
          <a:xfrm>
            <a:off x="4572000" y="2011680"/>
            <a:ext cx="6309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201E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calmer start to the day</a:t>
            </a:r>
            <a:endParaRPr lang="en-US" sz="2000" dirty="0"/>
          </a:p>
        </p:txBody>
      </p:sp>
      <p:sp>
        <p:nvSpPr>
          <p:cNvPr id="38" name="Shape 36"/>
          <p:cNvSpPr/>
          <p:nvPr/>
        </p:nvSpPr>
        <p:spPr>
          <a:xfrm>
            <a:off x="4590288" y="2660904"/>
            <a:ext cx="384048" cy="384048"/>
          </a:xfrm>
          <a:prstGeom prst="ellipse">
            <a:avLst/>
          </a:prstGeom>
          <a:solidFill>
            <a:srgbClr val="FCE9EC"/>
          </a:solidFill>
          <a:ln w="1270">
            <a:solidFill>
              <a:srgbClr val="FCE9EC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4590288" y="266090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E525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950" dirty="0"/>
          </a:p>
        </p:txBody>
      </p:sp>
      <p:sp>
        <p:nvSpPr>
          <p:cNvPr id="40" name="Text 38"/>
          <p:cNvSpPr/>
          <p:nvPr/>
        </p:nvSpPr>
        <p:spPr>
          <a:xfrm>
            <a:off x="5157216" y="2624328"/>
            <a:ext cx="5870448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201E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See what’s next</a:t>
            </a:r>
            <a:endParaRPr lang="en-US" sz="1600" dirty="0"/>
          </a:p>
        </p:txBody>
      </p:sp>
      <p:sp>
        <p:nvSpPr>
          <p:cNvPr id="41" name="Text 39"/>
          <p:cNvSpPr/>
          <p:nvPr/>
        </p:nvSpPr>
        <p:spPr>
          <a:xfrm>
            <a:off x="5157216" y="2962656"/>
            <a:ext cx="589788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240" dirty="0">
                <a:solidFill>
                  <a:srgbClr val="6D68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Today’s classes and upcoming reminders sit in one glance.</a:t>
            </a:r>
            <a:endParaRPr lang="en-US" sz="1240" dirty="0"/>
          </a:p>
        </p:txBody>
      </p:sp>
      <p:sp>
        <p:nvSpPr>
          <p:cNvPr id="42" name="Shape 40"/>
          <p:cNvSpPr/>
          <p:nvPr/>
        </p:nvSpPr>
        <p:spPr>
          <a:xfrm>
            <a:off x="4590288" y="3630168"/>
            <a:ext cx="384048" cy="384048"/>
          </a:xfrm>
          <a:prstGeom prst="ellipse">
            <a:avLst/>
          </a:prstGeom>
          <a:solidFill>
            <a:srgbClr val="FCE9EC"/>
          </a:solidFill>
          <a:ln w="1270">
            <a:solidFill>
              <a:srgbClr val="FCE9EC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4590288" y="363016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E525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950" dirty="0"/>
          </a:p>
        </p:txBody>
      </p:sp>
      <p:sp>
        <p:nvSpPr>
          <p:cNvPr id="44" name="Text 42"/>
          <p:cNvSpPr/>
          <p:nvPr/>
        </p:nvSpPr>
        <p:spPr>
          <a:xfrm>
            <a:off x="5157216" y="3593592"/>
            <a:ext cx="5870448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201E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Spot what needs attention</a:t>
            </a:r>
            <a:endParaRPr lang="en-US" sz="1600" dirty="0"/>
          </a:p>
        </p:txBody>
      </p:sp>
      <p:sp>
        <p:nvSpPr>
          <p:cNvPr id="45" name="Text 43"/>
          <p:cNvSpPr/>
          <p:nvPr/>
        </p:nvSpPr>
        <p:spPr>
          <a:xfrm>
            <a:off x="5157216" y="3931920"/>
            <a:ext cx="589788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240" dirty="0">
                <a:solidFill>
                  <a:srgbClr val="6D68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Assignments, announcements, and attendance are surfaced together.</a:t>
            </a:r>
            <a:endParaRPr lang="en-US" sz="1240" dirty="0"/>
          </a:p>
        </p:txBody>
      </p:sp>
      <p:sp>
        <p:nvSpPr>
          <p:cNvPr id="46" name="Shape 44"/>
          <p:cNvSpPr/>
          <p:nvPr/>
        </p:nvSpPr>
        <p:spPr>
          <a:xfrm>
            <a:off x="4590288" y="4599432"/>
            <a:ext cx="384048" cy="384048"/>
          </a:xfrm>
          <a:prstGeom prst="ellipse">
            <a:avLst/>
          </a:prstGeom>
          <a:solidFill>
            <a:srgbClr val="FCE9EC"/>
          </a:solidFill>
          <a:ln w="1270">
            <a:solidFill>
              <a:srgbClr val="FCE9EC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4590288" y="459943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E525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950" dirty="0"/>
          </a:p>
        </p:txBody>
      </p:sp>
      <p:sp>
        <p:nvSpPr>
          <p:cNvPr id="48" name="Text 46"/>
          <p:cNvSpPr/>
          <p:nvPr/>
        </p:nvSpPr>
        <p:spPr>
          <a:xfrm>
            <a:off x="5157216" y="4562856"/>
            <a:ext cx="5870448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201E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Move without menu-hunting</a:t>
            </a:r>
            <a:endParaRPr lang="en-US" sz="1600" dirty="0"/>
          </a:p>
        </p:txBody>
      </p:sp>
      <p:sp>
        <p:nvSpPr>
          <p:cNvPr id="49" name="Text 47"/>
          <p:cNvSpPr/>
          <p:nvPr/>
        </p:nvSpPr>
        <p:spPr>
          <a:xfrm>
            <a:off x="5157216" y="4901184"/>
            <a:ext cx="589788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240" dirty="0">
                <a:solidFill>
                  <a:srgbClr val="6D68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clear route from the dashboard to timetable, Classroom, or Campus Hub.</a:t>
            </a:r>
            <a:endParaRPr lang="en-US" sz="1240" dirty="0"/>
          </a:p>
        </p:txBody>
      </p:sp>
      <p:sp>
        <p:nvSpPr>
          <p:cNvPr id="50" name="Shape 48"/>
          <p:cNvSpPr/>
          <p:nvPr/>
        </p:nvSpPr>
        <p:spPr>
          <a:xfrm>
            <a:off x="4572000" y="5596128"/>
            <a:ext cx="6400800" cy="521208"/>
          </a:xfrm>
          <a:prstGeom prst="roundRect">
            <a:avLst>
              <a:gd name="adj" fmla="val 21053"/>
            </a:avLst>
          </a:prstGeom>
          <a:solidFill>
            <a:srgbClr val="F0EFF3"/>
          </a:solidFill>
          <a:ln w="1270">
            <a:solidFill>
              <a:srgbClr val="F0EFF3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4800600" y="5696712"/>
            <a:ext cx="5961888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70" b="1" dirty="0">
                <a:solidFill>
                  <a:srgbClr val="201E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single home screen turns scattered updates into a useful daily rhythm.</a:t>
            </a:r>
            <a:endParaRPr lang="en-US" sz="117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355080"/>
            <a:ext cx="228600" cy="219456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800">
                <a:solidFill>
                  <a:srgbClr val="6F6A71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85216" y="384048"/>
            <a:ext cx="7772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b="1" spc="125" kern="0" dirty="0">
                <a:solidFill>
                  <a:srgbClr val="E525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LIVES INSIDE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585216" y="704088"/>
            <a:ext cx="1097280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200" b="1" spc="-45" kern="0" dirty="0">
                <a:solidFill>
                  <a:srgbClr val="201E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Nine useful touchpoints. One simple app.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603504" y="1353312"/>
            <a:ext cx="10835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50" dirty="0">
                <a:solidFill>
                  <a:srgbClr val="6D68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Core academic tools, campus services, and student identity are organized around everyday use.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612648" y="1938528"/>
            <a:ext cx="3502152" cy="1133856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8890">
            <a:solidFill>
              <a:srgbClr val="E9E6E9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04672" y="2157984"/>
            <a:ext cx="448056" cy="448056"/>
          </a:xfrm>
          <a:prstGeom prst="ellipse">
            <a:avLst/>
          </a:prstGeom>
          <a:solidFill>
            <a:srgbClr val="FCE9EC"/>
          </a:solidFill>
          <a:ln w="1270">
            <a:solidFill>
              <a:srgbClr val="FCE9E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04672" y="2162556"/>
            <a:ext cx="44805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525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417320" y="2148840"/>
            <a:ext cx="246888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50" b="1" dirty="0">
                <a:solidFill>
                  <a:srgbClr val="201E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Smart Dashboard</a:t>
            </a:r>
            <a:endParaRPr lang="en-US" sz="1450" dirty="0"/>
          </a:p>
        </p:txBody>
      </p:sp>
      <p:sp>
        <p:nvSpPr>
          <p:cNvPr id="9" name="Text 7"/>
          <p:cNvSpPr/>
          <p:nvPr/>
        </p:nvSpPr>
        <p:spPr>
          <a:xfrm>
            <a:off x="1417320" y="2514600"/>
            <a:ext cx="2432304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80" dirty="0">
                <a:solidFill>
                  <a:srgbClr val="6D68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Today’s classes, tasks &amp; updates</a:t>
            </a:r>
            <a:endParaRPr lang="en-US" sz="1080" dirty="0"/>
          </a:p>
        </p:txBody>
      </p:sp>
      <p:sp>
        <p:nvSpPr>
          <p:cNvPr id="10" name="Shape 8"/>
          <p:cNvSpPr/>
          <p:nvPr/>
        </p:nvSpPr>
        <p:spPr>
          <a:xfrm>
            <a:off x="4389120" y="1938528"/>
            <a:ext cx="3502152" cy="1133856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8890">
            <a:solidFill>
              <a:srgbClr val="E9E6E9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581144" y="2157984"/>
            <a:ext cx="448056" cy="448056"/>
          </a:xfrm>
          <a:prstGeom prst="ellipse">
            <a:avLst/>
          </a:prstGeom>
          <a:solidFill>
            <a:srgbClr val="EAF0FF"/>
          </a:solidFill>
          <a:ln w="1270">
            <a:solidFill>
              <a:srgbClr val="EAF0F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81144" y="2162556"/>
            <a:ext cx="44805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5577C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5193792" y="2148840"/>
            <a:ext cx="246888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50" b="1" dirty="0">
                <a:solidFill>
                  <a:srgbClr val="201E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Smart Timetable</a:t>
            </a:r>
            <a:endParaRPr lang="en-US" sz="1450" dirty="0"/>
          </a:p>
        </p:txBody>
      </p:sp>
      <p:sp>
        <p:nvSpPr>
          <p:cNvPr id="14" name="Text 12"/>
          <p:cNvSpPr/>
          <p:nvPr/>
        </p:nvSpPr>
        <p:spPr>
          <a:xfrm>
            <a:off x="5193792" y="2514600"/>
            <a:ext cx="2432304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80" dirty="0">
                <a:solidFill>
                  <a:srgbClr val="6D68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Daily / weekly plan + reminders</a:t>
            </a:r>
            <a:endParaRPr lang="en-US" sz="1080" dirty="0"/>
          </a:p>
        </p:txBody>
      </p:sp>
      <p:sp>
        <p:nvSpPr>
          <p:cNvPr id="15" name="Shape 13"/>
          <p:cNvSpPr/>
          <p:nvPr/>
        </p:nvSpPr>
        <p:spPr>
          <a:xfrm>
            <a:off x="8165592" y="1938528"/>
            <a:ext cx="3502152" cy="1133856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8890">
            <a:solidFill>
              <a:srgbClr val="E9E6E9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357616" y="2157984"/>
            <a:ext cx="448056" cy="448056"/>
          </a:xfrm>
          <a:prstGeom prst="ellipse">
            <a:avLst/>
          </a:prstGeom>
          <a:solidFill>
            <a:srgbClr val="FCE9EC"/>
          </a:solidFill>
          <a:ln w="1270">
            <a:solidFill>
              <a:srgbClr val="FCE9E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357616" y="2162556"/>
            <a:ext cx="44805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525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8970264" y="2148840"/>
            <a:ext cx="246888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50" b="1" dirty="0">
                <a:solidFill>
                  <a:srgbClr val="201E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Attendance Tracker</a:t>
            </a:r>
            <a:endParaRPr lang="en-US" sz="1450" dirty="0"/>
          </a:p>
        </p:txBody>
      </p:sp>
      <p:sp>
        <p:nvSpPr>
          <p:cNvPr id="19" name="Text 17"/>
          <p:cNvSpPr/>
          <p:nvPr/>
        </p:nvSpPr>
        <p:spPr>
          <a:xfrm>
            <a:off x="8970264" y="2514600"/>
            <a:ext cx="2432304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80" dirty="0">
                <a:solidFill>
                  <a:srgbClr val="6D68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Subject status, percentage &amp; history</a:t>
            </a:r>
            <a:endParaRPr lang="en-US" sz="1080" dirty="0"/>
          </a:p>
        </p:txBody>
      </p:sp>
      <p:sp>
        <p:nvSpPr>
          <p:cNvPr id="20" name="Shape 18"/>
          <p:cNvSpPr/>
          <p:nvPr/>
        </p:nvSpPr>
        <p:spPr>
          <a:xfrm>
            <a:off x="612648" y="3282696"/>
            <a:ext cx="3502152" cy="1133856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8890">
            <a:solidFill>
              <a:srgbClr val="E9E6E9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804672" y="3502152"/>
            <a:ext cx="448056" cy="448056"/>
          </a:xfrm>
          <a:prstGeom prst="ellipse">
            <a:avLst/>
          </a:prstGeom>
          <a:solidFill>
            <a:srgbClr val="FFF4D8"/>
          </a:solidFill>
          <a:ln w="1270">
            <a:solidFill>
              <a:srgbClr val="FFF4D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04672" y="3506724"/>
            <a:ext cx="44805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A5741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1417320" y="3493008"/>
            <a:ext cx="246888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40" b="1" dirty="0">
                <a:solidFill>
                  <a:srgbClr val="201E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Attendance Insights</a:t>
            </a:r>
            <a:endParaRPr lang="en-US" sz="1340" dirty="0"/>
          </a:p>
        </p:txBody>
      </p:sp>
      <p:sp>
        <p:nvSpPr>
          <p:cNvPr id="24" name="Text 22"/>
          <p:cNvSpPr/>
          <p:nvPr/>
        </p:nvSpPr>
        <p:spPr>
          <a:xfrm>
            <a:off x="1417320" y="3858768"/>
            <a:ext cx="2432304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80" dirty="0">
                <a:solidFill>
                  <a:srgbClr val="6D68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Understand how to meet your target</a:t>
            </a:r>
            <a:endParaRPr lang="en-US" sz="1080" dirty="0"/>
          </a:p>
        </p:txBody>
      </p:sp>
      <p:sp>
        <p:nvSpPr>
          <p:cNvPr id="25" name="Shape 23"/>
          <p:cNvSpPr/>
          <p:nvPr/>
        </p:nvSpPr>
        <p:spPr>
          <a:xfrm>
            <a:off x="4389120" y="3282696"/>
            <a:ext cx="3502152" cy="1133856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8890">
            <a:solidFill>
              <a:srgbClr val="E9E6E9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4581144" y="3502152"/>
            <a:ext cx="448056" cy="448056"/>
          </a:xfrm>
          <a:prstGeom prst="ellipse">
            <a:avLst/>
          </a:prstGeom>
          <a:solidFill>
            <a:srgbClr val="F1EAF8"/>
          </a:solidFill>
          <a:ln w="1270">
            <a:solidFill>
              <a:srgbClr val="F1EAF8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581144" y="3506724"/>
            <a:ext cx="44805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8D69B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5193792" y="3493008"/>
            <a:ext cx="246888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50" b="1" dirty="0">
                <a:solidFill>
                  <a:srgbClr val="201E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Classroom</a:t>
            </a:r>
            <a:endParaRPr lang="en-US" sz="1450" dirty="0"/>
          </a:p>
        </p:txBody>
      </p:sp>
      <p:sp>
        <p:nvSpPr>
          <p:cNvPr id="29" name="Text 27"/>
          <p:cNvSpPr/>
          <p:nvPr/>
        </p:nvSpPr>
        <p:spPr>
          <a:xfrm>
            <a:off x="5193792" y="3858768"/>
            <a:ext cx="2432304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80" dirty="0">
                <a:solidFill>
                  <a:srgbClr val="6D68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Materials, submissions &amp; discussions</a:t>
            </a:r>
            <a:endParaRPr lang="en-US" sz="1080" dirty="0"/>
          </a:p>
        </p:txBody>
      </p:sp>
      <p:sp>
        <p:nvSpPr>
          <p:cNvPr id="30" name="Shape 28"/>
          <p:cNvSpPr/>
          <p:nvPr/>
        </p:nvSpPr>
        <p:spPr>
          <a:xfrm>
            <a:off x="8165592" y="3282696"/>
            <a:ext cx="3502152" cy="1133856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8890">
            <a:solidFill>
              <a:srgbClr val="E9E6E9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8357616" y="3502152"/>
            <a:ext cx="448056" cy="448056"/>
          </a:xfrm>
          <a:prstGeom prst="ellipse">
            <a:avLst/>
          </a:prstGeom>
          <a:solidFill>
            <a:srgbClr val="E5F4F1"/>
          </a:solidFill>
          <a:ln w="1270">
            <a:solidFill>
              <a:srgbClr val="E5F4F1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8357616" y="3506724"/>
            <a:ext cx="44805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328C8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8970264" y="3493008"/>
            <a:ext cx="246888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50" b="1" dirty="0">
                <a:solidFill>
                  <a:srgbClr val="201E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Campus Hub</a:t>
            </a:r>
            <a:endParaRPr lang="en-US" sz="1450" dirty="0"/>
          </a:p>
        </p:txBody>
      </p:sp>
      <p:sp>
        <p:nvSpPr>
          <p:cNvPr id="34" name="Text 32"/>
          <p:cNvSpPr/>
          <p:nvPr/>
        </p:nvSpPr>
        <p:spPr>
          <a:xfrm>
            <a:off x="8970264" y="3858768"/>
            <a:ext cx="2432304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80" dirty="0">
                <a:solidFill>
                  <a:srgbClr val="6D68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Events, library, bus, hostel, placements</a:t>
            </a:r>
            <a:endParaRPr lang="en-US" sz="1080" dirty="0"/>
          </a:p>
        </p:txBody>
      </p:sp>
      <p:sp>
        <p:nvSpPr>
          <p:cNvPr id="35" name="Shape 33"/>
          <p:cNvSpPr/>
          <p:nvPr/>
        </p:nvSpPr>
        <p:spPr>
          <a:xfrm>
            <a:off x="612648" y="4626864"/>
            <a:ext cx="3502152" cy="1133856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8890">
            <a:solidFill>
              <a:srgbClr val="E9E6E9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804672" y="4846320"/>
            <a:ext cx="448056" cy="448056"/>
          </a:xfrm>
          <a:prstGeom prst="ellipse">
            <a:avLst/>
          </a:prstGeom>
          <a:solidFill>
            <a:srgbClr val="FFF4D8"/>
          </a:solidFill>
          <a:ln w="1270">
            <a:solidFill>
              <a:srgbClr val="FFF4D8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804672" y="4850892"/>
            <a:ext cx="44805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A5741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</a:t>
            </a:r>
            <a:endParaRPr lang="en-US" sz="1400" dirty="0"/>
          </a:p>
        </p:txBody>
      </p:sp>
      <p:sp>
        <p:nvSpPr>
          <p:cNvPr id="38" name="Text 36"/>
          <p:cNvSpPr/>
          <p:nvPr/>
        </p:nvSpPr>
        <p:spPr>
          <a:xfrm>
            <a:off x="1417320" y="4837176"/>
            <a:ext cx="246888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50" b="1" dirty="0">
                <a:solidFill>
                  <a:srgbClr val="201E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 Connect</a:t>
            </a:r>
            <a:endParaRPr lang="en-US" sz="1450" dirty="0"/>
          </a:p>
        </p:txBody>
      </p:sp>
      <p:sp>
        <p:nvSpPr>
          <p:cNvPr id="39" name="Text 37"/>
          <p:cNvSpPr/>
          <p:nvPr/>
        </p:nvSpPr>
        <p:spPr>
          <a:xfrm>
            <a:off x="1417320" y="5202936"/>
            <a:ext cx="2432304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80" dirty="0">
                <a:solidFill>
                  <a:srgbClr val="6D68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Student, club &amp; campus feed</a:t>
            </a:r>
            <a:endParaRPr lang="en-US" sz="1080" dirty="0"/>
          </a:p>
        </p:txBody>
      </p:sp>
      <p:sp>
        <p:nvSpPr>
          <p:cNvPr id="40" name="Shape 38"/>
          <p:cNvSpPr/>
          <p:nvPr/>
        </p:nvSpPr>
        <p:spPr>
          <a:xfrm>
            <a:off x="4389120" y="4626864"/>
            <a:ext cx="3502152" cy="1133856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8890">
            <a:solidFill>
              <a:srgbClr val="E9E6E9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4581144" y="4846320"/>
            <a:ext cx="448056" cy="448056"/>
          </a:xfrm>
          <a:prstGeom prst="ellipse">
            <a:avLst/>
          </a:prstGeom>
          <a:solidFill>
            <a:srgbClr val="EAF0FF"/>
          </a:solidFill>
          <a:ln w="1270">
            <a:solidFill>
              <a:srgbClr val="EAF0FF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4581144" y="4850892"/>
            <a:ext cx="44805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5577C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</a:t>
            </a:r>
            <a:endParaRPr lang="en-US" sz="1000" dirty="0"/>
          </a:p>
        </p:txBody>
      </p:sp>
      <p:sp>
        <p:nvSpPr>
          <p:cNvPr id="43" name="Text 41"/>
          <p:cNvSpPr/>
          <p:nvPr/>
        </p:nvSpPr>
        <p:spPr>
          <a:xfrm>
            <a:off x="5193792" y="4837176"/>
            <a:ext cx="246888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50" b="1" dirty="0">
                <a:solidFill>
                  <a:srgbClr val="201E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Digital Student ID</a:t>
            </a:r>
            <a:endParaRPr lang="en-US" sz="1450" dirty="0"/>
          </a:p>
        </p:txBody>
      </p:sp>
      <p:sp>
        <p:nvSpPr>
          <p:cNvPr id="44" name="Text 42"/>
          <p:cNvSpPr/>
          <p:nvPr/>
        </p:nvSpPr>
        <p:spPr>
          <a:xfrm>
            <a:off x="5193792" y="5202936"/>
            <a:ext cx="2432304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80" dirty="0">
                <a:solidFill>
                  <a:srgbClr val="6D68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Profile with dynamic QR gate pass</a:t>
            </a:r>
            <a:endParaRPr lang="en-US" sz="1080" dirty="0"/>
          </a:p>
        </p:txBody>
      </p:sp>
      <p:sp>
        <p:nvSpPr>
          <p:cNvPr id="45" name="Shape 43"/>
          <p:cNvSpPr/>
          <p:nvPr/>
        </p:nvSpPr>
        <p:spPr>
          <a:xfrm>
            <a:off x="8165592" y="4626864"/>
            <a:ext cx="3502152" cy="1133856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8890">
            <a:solidFill>
              <a:srgbClr val="E9E6E9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8357616" y="4846320"/>
            <a:ext cx="448056" cy="448056"/>
          </a:xfrm>
          <a:prstGeom prst="ellipse">
            <a:avLst/>
          </a:prstGeom>
          <a:solidFill>
            <a:srgbClr val="FCE9EC"/>
          </a:solidFill>
          <a:ln w="1270">
            <a:solidFill>
              <a:srgbClr val="FCE9EC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8357616" y="4850892"/>
            <a:ext cx="44805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525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</a:t>
            </a:r>
            <a:endParaRPr lang="en-US" sz="1400" dirty="0"/>
          </a:p>
        </p:txBody>
      </p:sp>
      <p:sp>
        <p:nvSpPr>
          <p:cNvPr id="48" name="Text 46"/>
          <p:cNvSpPr/>
          <p:nvPr/>
        </p:nvSpPr>
        <p:spPr>
          <a:xfrm>
            <a:off x="8970264" y="4837176"/>
            <a:ext cx="246888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40" b="1" dirty="0">
                <a:solidFill>
                  <a:srgbClr val="201E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Notifications + Profile</a:t>
            </a:r>
            <a:endParaRPr lang="en-US" sz="1340" dirty="0"/>
          </a:p>
        </p:txBody>
      </p:sp>
      <p:sp>
        <p:nvSpPr>
          <p:cNvPr id="49" name="Text 47"/>
          <p:cNvSpPr/>
          <p:nvPr/>
        </p:nvSpPr>
        <p:spPr>
          <a:xfrm>
            <a:off x="8970264" y="5202936"/>
            <a:ext cx="2432304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80" dirty="0">
                <a:solidFill>
                  <a:srgbClr val="6D68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Alerts, profile, activity &amp; achievements</a:t>
            </a:r>
            <a:endParaRPr lang="en-US" sz="1080" dirty="0"/>
          </a:p>
        </p:txBody>
      </p:sp>
      <p:sp>
        <p:nvSpPr>
          <p:cNvPr id="50" name="Text 48"/>
          <p:cNvSpPr/>
          <p:nvPr/>
        </p:nvSpPr>
        <p:spPr>
          <a:xfrm>
            <a:off x="658368" y="5998464"/>
            <a:ext cx="10515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20" b="1" dirty="0">
                <a:solidFill>
                  <a:srgbClr val="A916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connected set of tools—not another complicated ERP menu.</a:t>
            </a:r>
            <a:endParaRPr lang="en-US" sz="112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355080"/>
            <a:ext cx="228600" cy="219456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800">
                <a:solidFill>
                  <a:srgbClr val="6F6A71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85216" y="384048"/>
            <a:ext cx="7772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b="1" spc="125" kern="0" dirty="0">
                <a:solidFill>
                  <a:srgbClr val="E525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ATTENDANCE, MADE ACTIONABLE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585216" y="704088"/>
            <a:ext cx="1097280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200" b="1" spc="-45" kern="0" dirty="0">
                <a:solidFill>
                  <a:srgbClr val="201E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From percentage to a plan.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603504" y="1353312"/>
            <a:ext cx="10835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50" dirty="0">
                <a:solidFill>
                  <a:srgbClr val="6D68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Turn subject-level records into clear next steps and timely low-attendance alerts.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658368" y="1892808"/>
            <a:ext cx="6537960" cy="4160520"/>
          </a:xfrm>
          <a:prstGeom prst="roundRect">
            <a:avLst>
              <a:gd name="adj" fmla="val 2637"/>
            </a:avLst>
          </a:prstGeom>
          <a:solidFill>
            <a:srgbClr val="FFFFFF"/>
          </a:solidFill>
          <a:ln w="9525">
            <a:solidFill>
              <a:srgbClr val="E9E6E9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950976" y="2157984"/>
            <a:ext cx="1746504" cy="283464"/>
          </a:xfrm>
          <a:prstGeom prst="roundRect">
            <a:avLst>
              <a:gd name="adj" fmla="val 38710"/>
            </a:avLst>
          </a:prstGeom>
          <a:solidFill>
            <a:srgbClr val="FCE9EC"/>
          </a:solidFill>
          <a:ln w="1270">
            <a:solidFill>
              <a:srgbClr val="FCE9E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33272" y="2167128"/>
            <a:ext cx="1581912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20" b="1" spc="35" kern="0" dirty="0">
                <a:solidFill>
                  <a:srgbClr val="A916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ILLUSTRATIVE EXAMPLE</a:t>
            </a:r>
            <a:endParaRPr lang="en-US" sz="820" dirty="0"/>
          </a:p>
        </p:txBody>
      </p:sp>
      <p:sp>
        <p:nvSpPr>
          <p:cNvPr id="8" name="Text 6"/>
          <p:cNvSpPr/>
          <p:nvPr/>
        </p:nvSpPr>
        <p:spPr>
          <a:xfrm>
            <a:off x="960120" y="2688336"/>
            <a:ext cx="2834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b="1" spc="70" kern="0" dirty="0">
                <a:solidFill>
                  <a:srgbClr val="6D68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OVERALL ATTENDANCE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932688" y="2971800"/>
            <a:ext cx="196596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100" b="1" spc="-130" kern="0" dirty="0">
                <a:solidFill>
                  <a:srgbClr val="201E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68%</a:t>
            </a:r>
            <a:endParaRPr lang="en-US" sz="5100" dirty="0"/>
          </a:p>
        </p:txBody>
      </p:sp>
      <p:sp>
        <p:nvSpPr>
          <p:cNvPr id="10" name="Text 8"/>
          <p:cNvSpPr/>
          <p:nvPr/>
        </p:nvSpPr>
        <p:spPr>
          <a:xfrm>
            <a:off x="2852928" y="3401568"/>
            <a:ext cx="3383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6D68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across enrolled subjects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960120" y="3986784"/>
            <a:ext cx="5916168" cy="128016"/>
          </a:xfrm>
          <a:prstGeom prst="roundRect">
            <a:avLst>
              <a:gd name="adj" fmla="val 85714"/>
            </a:avLst>
          </a:prstGeom>
          <a:solidFill>
            <a:srgbClr val="ECE9ED"/>
          </a:solidFill>
          <a:ln w="1270">
            <a:solidFill>
              <a:srgbClr val="ECE9ED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960120" y="3986784"/>
            <a:ext cx="4022994" cy="128016"/>
          </a:xfrm>
          <a:prstGeom prst="roundRect">
            <a:avLst>
              <a:gd name="adj" fmla="val 85714"/>
            </a:avLst>
          </a:prstGeom>
          <a:solidFill>
            <a:srgbClr val="E52535"/>
          </a:solidFill>
          <a:ln w="1270">
            <a:solidFill>
              <a:srgbClr val="E52535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5397246" y="3895344"/>
            <a:ext cx="22860" cy="320040"/>
          </a:xfrm>
          <a:prstGeom prst="rect">
            <a:avLst/>
          </a:prstGeom>
          <a:solidFill>
            <a:srgbClr val="201E24"/>
          </a:solidFill>
          <a:ln w="1270">
            <a:solidFill>
              <a:srgbClr val="201E24">
                <a:alpha val="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60120" y="4215384"/>
            <a:ext cx="365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20" dirty="0">
                <a:solidFill>
                  <a:srgbClr val="A39E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0%</a:t>
            </a:r>
            <a:endParaRPr lang="en-US" sz="820" dirty="0"/>
          </a:p>
        </p:txBody>
      </p:sp>
      <p:sp>
        <p:nvSpPr>
          <p:cNvPr id="15" name="Text 13"/>
          <p:cNvSpPr/>
          <p:nvPr/>
        </p:nvSpPr>
        <p:spPr>
          <a:xfrm>
            <a:off x="5669280" y="4215384"/>
            <a:ext cx="120700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20" b="1" dirty="0">
                <a:solidFill>
                  <a:srgbClr val="201E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Example target 75%</a:t>
            </a:r>
            <a:endParaRPr lang="en-US" sz="820" dirty="0"/>
          </a:p>
        </p:txBody>
      </p:sp>
      <p:sp>
        <p:nvSpPr>
          <p:cNvPr id="16" name="Text 14"/>
          <p:cNvSpPr/>
          <p:nvPr/>
        </p:nvSpPr>
        <p:spPr>
          <a:xfrm>
            <a:off x="960120" y="4626864"/>
            <a:ext cx="2377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10" b="1" spc="55" kern="0" dirty="0">
                <a:solidFill>
                  <a:srgbClr val="6D68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SUBJECT SNAPSHOT</a:t>
            </a:r>
            <a:endParaRPr lang="en-US" sz="910" dirty="0"/>
          </a:p>
        </p:txBody>
      </p:sp>
      <p:sp>
        <p:nvSpPr>
          <p:cNvPr id="17" name="Text 15"/>
          <p:cNvSpPr/>
          <p:nvPr/>
        </p:nvSpPr>
        <p:spPr>
          <a:xfrm>
            <a:off x="960120" y="4956048"/>
            <a:ext cx="1600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201E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Design Studio</a:t>
            </a:r>
            <a:endParaRPr lang="en-US" sz="1020" dirty="0"/>
          </a:p>
        </p:txBody>
      </p:sp>
      <p:sp>
        <p:nvSpPr>
          <p:cNvPr id="18" name="Shape 16"/>
          <p:cNvSpPr/>
          <p:nvPr/>
        </p:nvSpPr>
        <p:spPr>
          <a:xfrm>
            <a:off x="2606040" y="5001768"/>
            <a:ext cx="3602736" cy="100584"/>
          </a:xfrm>
          <a:prstGeom prst="roundRect">
            <a:avLst>
              <a:gd name="adj" fmla="val 109091"/>
            </a:avLst>
          </a:prstGeom>
          <a:solidFill>
            <a:srgbClr val="ECE9ED"/>
          </a:solidFill>
          <a:ln w="1270">
            <a:solidFill>
              <a:srgbClr val="ECE9ED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2606040" y="5001768"/>
            <a:ext cx="2918216" cy="100584"/>
          </a:xfrm>
          <a:prstGeom prst="roundRect">
            <a:avLst>
              <a:gd name="adj" fmla="val 109091"/>
            </a:avLst>
          </a:prstGeom>
          <a:solidFill>
            <a:srgbClr val="328C83"/>
          </a:solidFill>
          <a:ln w="1270">
            <a:solidFill>
              <a:srgbClr val="328C83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327648" y="4946904"/>
            <a:ext cx="502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80" b="1" dirty="0">
                <a:solidFill>
                  <a:srgbClr val="201E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81%</a:t>
            </a:r>
            <a:endParaRPr lang="en-US" sz="980" dirty="0"/>
          </a:p>
        </p:txBody>
      </p:sp>
      <p:sp>
        <p:nvSpPr>
          <p:cNvPr id="21" name="Text 19"/>
          <p:cNvSpPr/>
          <p:nvPr/>
        </p:nvSpPr>
        <p:spPr>
          <a:xfrm>
            <a:off x="960120" y="5276088"/>
            <a:ext cx="1600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201E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Systems</a:t>
            </a:r>
            <a:endParaRPr lang="en-US" sz="1020" dirty="0"/>
          </a:p>
        </p:txBody>
      </p:sp>
      <p:sp>
        <p:nvSpPr>
          <p:cNvPr id="22" name="Shape 20"/>
          <p:cNvSpPr/>
          <p:nvPr/>
        </p:nvSpPr>
        <p:spPr>
          <a:xfrm>
            <a:off x="2606040" y="5321808"/>
            <a:ext cx="3602736" cy="100584"/>
          </a:xfrm>
          <a:prstGeom prst="roundRect">
            <a:avLst>
              <a:gd name="adj" fmla="val 109091"/>
            </a:avLst>
          </a:prstGeom>
          <a:solidFill>
            <a:srgbClr val="ECE9ED"/>
          </a:solidFill>
          <a:ln w="1270">
            <a:solidFill>
              <a:srgbClr val="ECE9ED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2606040" y="5321808"/>
            <a:ext cx="2449860" cy="100584"/>
          </a:xfrm>
          <a:prstGeom prst="roundRect">
            <a:avLst>
              <a:gd name="adj" fmla="val 109091"/>
            </a:avLst>
          </a:prstGeom>
          <a:solidFill>
            <a:srgbClr val="F4B942"/>
          </a:solidFill>
          <a:ln w="1270">
            <a:solidFill>
              <a:srgbClr val="F4B942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327648" y="5266944"/>
            <a:ext cx="502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80" b="1" dirty="0">
                <a:solidFill>
                  <a:srgbClr val="201E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68%</a:t>
            </a:r>
            <a:endParaRPr lang="en-US" sz="980" dirty="0"/>
          </a:p>
        </p:txBody>
      </p:sp>
      <p:sp>
        <p:nvSpPr>
          <p:cNvPr id="25" name="Text 23"/>
          <p:cNvSpPr/>
          <p:nvPr/>
        </p:nvSpPr>
        <p:spPr>
          <a:xfrm>
            <a:off x="960120" y="5596128"/>
            <a:ext cx="1600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201E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Economics</a:t>
            </a:r>
            <a:endParaRPr lang="en-US" sz="1020" dirty="0"/>
          </a:p>
        </p:txBody>
      </p:sp>
      <p:sp>
        <p:nvSpPr>
          <p:cNvPr id="26" name="Shape 24"/>
          <p:cNvSpPr/>
          <p:nvPr/>
        </p:nvSpPr>
        <p:spPr>
          <a:xfrm>
            <a:off x="2606040" y="5641848"/>
            <a:ext cx="3602736" cy="100584"/>
          </a:xfrm>
          <a:prstGeom prst="roundRect">
            <a:avLst>
              <a:gd name="adj" fmla="val 109091"/>
            </a:avLst>
          </a:prstGeom>
          <a:solidFill>
            <a:srgbClr val="ECE9ED"/>
          </a:solidFill>
          <a:ln w="1270">
            <a:solidFill>
              <a:srgbClr val="ECE9ED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2606040" y="5641848"/>
            <a:ext cx="1945477" cy="100584"/>
          </a:xfrm>
          <a:prstGeom prst="roundRect">
            <a:avLst>
              <a:gd name="adj" fmla="val 109091"/>
            </a:avLst>
          </a:prstGeom>
          <a:solidFill>
            <a:srgbClr val="E52535"/>
          </a:solidFill>
          <a:ln w="1270">
            <a:solidFill>
              <a:srgbClr val="E52535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327648" y="5586984"/>
            <a:ext cx="502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80" b="1" dirty="0">
                <a:solidFill>
                  <a:srgbClr val="201E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54%</a:t>
            </a:r>
            <a:endParaRPr lang="en-US" sz="980" dirty="0"/>
          </a:p>
        </p:txBody>
      </p:sp>
      <p:sp>
        <p:nvSpPr>
          <p:cNvPr id="29" name="Text 27"/>
          <p:cNvSpPr/>
          <p:nvPr/>
        </p:nvSpPr>
        <p:spPr>
          <a:xfrm>
            <a:off x="960120" y="5833872"/>
            <a:ext cx="58978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A39E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Example only · actual targets depend on college policy.</a:t>
            </a:r>
            <a:endParaRPr lang="en-US" sz="850" dirty="0"/>
          </a:p>
        </p:txBody>
      </p:sp>
      <p:sp>
        <p:nvSpPr>
          <p:cNvPr id="30" name="Text 28"/>
          <p:cNvSpPr/>
          <p:nvPr/>
        </p:nvSpPr>
        <p:spPr>
          <a:xfrm>
            <a:off x="7726680" y="2084832"/>
            <a:ext cx="3657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201E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guide—not just a gradebook.</a:t>
            </a:r>
            <a:endParaRPr lang="en-US" sz="2000" dirty="0"/>
          </a:p>
        </p:txBody>
      </p:sp>
      <p:sp>
        <p:nvSpPr>
          <p:cNvPr id="31" name="Shape 29"/>
          <p:cNvSpPr/>
          <p:nvPr/>
        </p:nvSpPr>
        <p:spPr>
          <a:xfrm>
            <a:off x="7754112" y="2770632"/>
            <a:ext cx="347472" cy="347472"/>
          </a:xfrm>
          <a:prstGeom prst="ellipse">
            <a:avLst/>
          </a:prstGeom>
          <a:solidFill>
            <a:srgbClr val="FCE9EC"/>
          </a:solidFill>
          <a:ln w="1270">
            <a:solidFill>
              <a:srgbClr val="FCE9EC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7754112" y="2770632"/>
            <a:ext cx="34747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E525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8266176" y="2734056"/>
            <a:ext cx="3154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20" b="1" dirty="0">
                <a:solidFill>
                  <a:srgbClr val="201E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See each subject clearly</a:t>
            </a:r>
            <a:endParaRPr lang="en-US" sz="1420" dirty="0"/>
          </a:p>
        </p:txBody>
      </p:sp>
      <p:sp>
        <p:nvSpPr>
          <p:cNvPr id="34" name="Text 32"/>
          <p:cNvSpPr/>
          <p:nvPr/>
        </p:nvSpPr>
        <p:spPr>
          <a:xfrm>
            <a:off x="8266176" y="3008376"/>
            <a:ext cx="3108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80" dirty="0">
                <a:solidFill>
                  <a:srgbClr val="6D68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Current percentage, history, and status at a glance.</a:t>
            </a:r>
            <a:endParaRPr lang="en-US" sz="1080" dirty="0"/>
          </a:p>
        </p:txBody>
      </p:sp>
      <p:sp>
        <p:nvSpPr>
          <p:cNvPr id="35" name="Shape 33"/>
          <p:cNvSpPr/>
          <p:nvPr/>
        </p:nvSpPr>
        <p:spPr>
          <a:xfrm>
            <a:off x="7754112" y="3602736"/>
            <a:ext cx="347472" cy="347472"/>
          </a:xfrm>
          <a:prstGeom prst="ellipse">
            <a:avLst/>
          </a:prstGeom>
          <a:solidFill>
            <a:srgbClr val="FCE9EC"/>
          </a:solidFill>
          <a:ln w="1270">
            <a:solidFill>
              <a:srgbClr val="FCE9EC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7754112" y="3602736"/>
            <a:ext cx="34747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E525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8266176" y="3566160"/>
            <a:ext cx="3154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20" b="1" dirty="0">
                <a:solidFill>
                  <a:srgbClr val="201E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Understand what it means</a:t>
            </a:r>
            <a:endParaRPr lang="en-US" sz="1420" dirty="0"/>
          </a:p>
        </p:txBody>
      </p:sp>
      <p:sp>
        <p:nvSpPr>
          <p:cNvPr id="38" name="Text 36"/>
          <p:cNvSpPr/>
          <p:nvPr/>
        </p:nvSpPr>
        <p:spPr>
          <a:xfrm>
            <a:off x="8266176" y="3840480"/>
            <a:ext cx="3108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80" dirty="0">
                <a:solidFill>
                  <a:srgbClr val="6D68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Identify subjects that need attention sooner.</a:t>
            </a:r>
            <a:endParaRPr lang="en-US" sz="1080" dirty="0"/>
          </a:p>
        </p:txBody>
      </p:sp>
      <p:sp>
        <p:nvSpPr>
          <p:cNvPr id="39" name="Shape 37"/>
          <p:cNvSpPr/>
          <p:nvPr/>
        </p:nvSpPr>
        <p:spPr>
          <a:xfrm>
            <a:off x="7754112" y="4434840"/>
            <a:ext cx="347472" cy="347472"/>
          </a:xfrm>
          <a:prstGeom prst="ellipse">
            <a:avLst/>
          </a:prstGeom>
          <a:solidFill>
            <a:srgbClr val="E52535"/>
          </a:solidFill>
          <a:ln w="1270">
            <a:solidFill>
              <a:srgbClr val="E52535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7754112" y="4434840"/>
            <a:ext cx="34747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000" dirty="0"/>
          </a:p>
        </p:txBody>
      </p:sp>
      <p:sp>
        <p:nvSpPr>
          <p:cNvPr id="41" name="Text 39"/>
          <p:cNvSpPr/>
          <p:nvPr/>
        </p:nvSpPr>
        <p:spPr>
          <a:xfrm>
            <a:off x="8266176" y="4398264"/>
            <a:ext cx="3154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20" b="1" dirty="0">
                <a:solidFill>
                  <a:srgbClr val="201E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Choose a next step</a:t>
            </a:r>
            <a:endParaRPr lang="en-US" sz="1420" dirty="0"/>
          </a:p>
        </p:txBody>
      </p:sp>
      <p:sp>
        <p:nvSpPr>
          <p:cNvPr id="42" name="Text 40"/>
          <p:cNvSpPr/>
          <p:nvPr/>
        </p:nvSpPr>
        <p:spPr>
          <a:xfrm>
            <a:off x="8266176" y="4672584"/>
            <a:ext cx="3108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80" dirty="0">
                <a:solidFill>
                  <a:srgbClr val="6D68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Estimate classes needed to meet the required target.</a:t>
            </a:r>
            <a:endParaRPr lang="en-US" sz="1080" dirty="0"/>
          </a:p>
        </p:txBody>
      </p:sp>
      <p:sp>
        <p:nvSpPr>
          <p:cNvPr id="43" name="Shape 41"/>
          <p:cNvSpPr/>
          <p:nvPr/>
        </p:nvSpPr>
        <p:spPr>
          <a:xfrm>
            <a:off x="7735824" y="5404104"/>
            <a:ext cx="3730752" cy="676656"/>
          </a:xfrm>
          <a:prstGeom prst="roundRect">
            <a:avLst>
              <a:gd name="adj" fmla="val 16216"/>
            </a:avLst>
          </a:prstGeom>
          <a:solidFill>
            <a:srgbClr val="FCE9EC"/>
          </a:solidFill>
          <a:ln w="1270">
            <a:solidFill>
              <a:srgbClr val="FCE9EC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7960081" y="5539069"/>
            <a:ext cx="386791" cy="386791"/>
          </a:xfrm>
          <a:prstGeom prst="triangle">
            <a:avLst/>
          </a:prstGeom>
          <a:solidFill>
            <a:srgbClr val="A91627"/>
          </a:solidFill>
          <a:ln w="1270">
            <a:solidFill>
              <a:srgbClr val="A91627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7927848" y="5504688"/>
            <a:ext cx="386791" cy="386791"/>
          </a:xfrm>
          <a:prstGeom prst="triangle">
            <a:avLst/>
          </a:prstGeom>
          <a:solidFill>
            <a:srgbClr val="E52535"/>
          </a:solidFill>
          <a:ln w="1270">
            <a:solidFill>
              <a:srgbClr val="E52535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 rot="10800000">
            <a:off x="8129839" y="5672298"/>
            <a:ext cx="124633" cy="167610"/>
          </a:xfrm>
          <a:prstGeom prst="rtTriangle">
            <a:avLst/>
          </a:prstGeom>
          <a:solidFill>
            <a:srgbClr val="FF8993">
              <a:alpha val="87000"/>
            </a:srgbClr>
          </a:solidFill>
          <a:ln w="1270">
            <a:solidFill>
              <a:srgbClr val="FF8993">
                <a:alpha val="0"/>
              </a:srgbClr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8063225" y="5695935"/>
            <a:ext cx="32233" cy="32233"/>
          </a:xfrm>
          <a:prstGeom prst="ellipse">
            <a:avLst/>
          </a:prstGeom>
          <a:solidFill>
            <a:srgbClr val="FFFFFF"/>
          </a:solidFill>
          <a:ln w="1270">
            <a:solidFill>
              <a:srgbClr val="FFFFFF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8159923" y="5695935"/>
            <a:ext cx="32233" cy="32233"/>
          </a:xfrm>
          <a:prstGeom prst="ellipse">
            <a:avLst/>
          </a:prstGeom>
          <a:solidFill>
            <a:srgbClr val="FFFFFF"/>
          </a:solidFill>
          <a:ln w="1270">
            <a:solidFill>
              <a:srgbClr val="FFFFFF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8101904" y="5760400"/>
            <a:ext cx="68763" cy="15042"/>
          </a:xfrm>
          <a:prstGeom prst="roundRect">
            <a:avLst>
              <a:gd name="adj" fmla="val 729477"/>
            </a:avLst>
          </a:prstGeom>
          <a:solidFill>
            <a:srgbClr val="FFFFFF"/>
          </a:solidFill>
          <a:ln w="1270">
            <a:solidFill>
              <a:srgbClr val="FFFFFF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8503920" y="5541264"/>
            <a:ext cx="2697480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b="1" dirty="0">
                <a:solidFill>
                  <a:srgbClr val="A916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Timely nudges help students act before a shortfall grows.</a:t>
            </a:r>
            <a:endParaRPr lang="en-US" sz="10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355080"/>
            <a:ext cx="228600" cy="219456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800">
                <a:solidFill>
                  <a:srgbClr val="6F6A71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85216" y="384048"/>
            <a:ext cx="7772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b="1" spc="125" kern="0" dirty="0">
                <a:solidFill>
                  <a:srgbClr val="E525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LIFE BEYOND THE TIMETABLE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585216" y="704088"/>
            <a:ext cx="1097280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200" b="1" spc="-45" kern="0" dirty="0">
                <a:solidFill>
                  <a:srgbClr val="201E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Campus life deserves a front door.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603504" y="1353312"/>
            <a:ext cx="10835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50" dirty="0">
                <a:solidFill>
                  <a:srgbClr val="6D68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Discover what is happening, find useful services, and feel closer to the student community.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640080" y="1901952"/>
            <a:ext cx="5440680" cy="4206240"/>
          </a:xfrm>
          <a:prstGeom prst="roundRect">
            <a:avLst>
              <a:gd name="adj" fmla="val 2609"/>
            </a:avLst>
          </a:prstGeom>
          <a:solidFill>
            <a:srgbClr val="FFFFFF"/>
          </a:solidFill>
          <a:ln w="9525">
            <a:solidFill>
              <a:srgbClr val="E9E6E9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914400" y="2167128"/>
            <a:ext cx="475488" cy="475488"/>
          </a:xfrm>
          <a:prstGeom prst="ellipse">
            <a:avLst/>
          </a:prstGeom>
          <a:solidFill>
            <a:srgbClr val="E5F4F1"/>
          </a:solidFill>
          <a:ln w="1270">
            <a:solidFill>
              <a:srgbClr val="E5F4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14400" y="2171700"/>
            <a:ext cx="475488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328C8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536192" y="2148840"/>
            <a:ext cx="3200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900" b="1" dirty="0">
                <a:solidFill>
                  <a:srgbClr val="201E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Campus Hub</a:t>
            </a:r>
            <a:endParaRPr lang="en-US" sz="1900" dirty="0"/>
          </a:p>
        </p:txBody>
      </p:sp>
      <p:sp>
        <p:nvSpPr>
          <p:cNvPr id="9" name="Text 7"/>
          <p:cNvSpPr/>
          <p:nvPr/>
        </p:nvSpPr>
        <p:spPr>
          <a:xfrm>
            <a:off x="1536192" y="2496312"/>
            <a:ext cx="3931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6D68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practical campus, in one place.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914400" y="2944368"/>
            <a:ext cx="3200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80" b="1" spc="70" kern="0" dirty="0">
                <a:solidFill>
                  <a:srgbClr val="6D68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SAMPLE EVENTS</a:t>
            </a:r>
            <a:endParaRPr lang="en-US" sz="880" dirty="0"/>
          </a:p>
        </p:txBody>
      </p:sp>
      <p:sp>
        <p:nvSpPr>
          <p:cNvPr id="11" name="Shape 9"/>
          <p:cNvSpPr/>
          <p:nvPr/>
        </p:nvSpPr>
        <p:spPr>
          <a:xfrm>
            <a:off x="914400" y="3264408"/>
            <a:ext cx="4800600" cy="548640"/>
          </a:xfrm>
          <a:prstGeom prst="roundRect">
            <a:avLst>
              <a:gd name="adj" fmla="val 20000"/>
            </a:avLst>
          </a:prstGeom>
          <a:solidFill>
            <a:srgbClr val="F8F8FA"/>
          </a:solidFill>
          <a:ln w="1270">
            <a:solidFill>
              <a:srgbClr val="F8F8FA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078992" y="3401568"/>
            <a:ext cx="274320" cy="274320"/>
          </a:xfrm>
          <a:prstGeom prst="ellipse">
            <a:avLst/>
          </a:prstGeom>
          <a:solidFill>
            <a:srgbClr val="FFF4D8"/>
          </a:solidFill>
          <a:ln w="1270">
            <a:solidFill>
              <a:srgbClr val="FFF4D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078992" y="338328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A5741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1508760" y="3364992"/>
            <a:ext cx="10972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b="1" spc="25" kern="0" dirty="0">
                <a:solidFill>
                  <a:srgbClr val="6D68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FRI  ·  10:30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1508760" y="3538728"/>
            <a:ext cx="3931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20" b="1" dirty="0">
                <a:solidFill>
                  <a:srgbClr val="201E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Library research workshop</a:t>
            </a:r>
            <a:endParaRPr lang="en-US" sz="1120" dirty="0"/>
          </a:p>
        </p:txBody>
      </p:sp>
      <p:sp>
        <p:nvSpPr>
          <p:cNvPr id="16" name="Shape 14"/>
          <p:cNvSpPr/>
          <p:nvPr/>
        </p:nvSpPr>
        <p:spPr>
          <a:xfrm>
            <a:off x="914400" y="3959352"/>
            <a:ext cx="4800600" cy="548640"/>
          </a:xfrm>
          <a:prstGeom prst="roundRect">
            <a:avLst>
              <a:gd name="adj" fmla="val 20000"/>
            </a:avLst>
          </a:prstGeom>
          <a:solidFill>
            <a:srgbClr val="F8F8FA"/>
          </a:solidFill>
          <a:ln w="1270">
            <a:solidFill>
              <a:srgbClr val="F8F8FA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078992" y="4096512"/>
            <a:ext cx="274320" cy="274320"/>
          </a:xfrm>
          <a:prstGeom prst="ellipse">
            <a:avLst/>
          </a:prstGeom>
          <a:solidFill>
            <a:srgbClr val="FCE9EC"/>
          </a:solidFill>
          <a:ln w="1270">
            <a:solidFill>
              <a:srgbClr val="FCE9E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078992" y="407822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525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1508760" y="4059936"/>
            <a:ext cx="10972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b="1" spc="25" kern="0" dirty="0">
                <a:solidFill>
                  <a:srgbClr val="6D68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FRI  ·  14:00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1508760" y="4233672"/>
            <a:ext cx="3931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20" b="1" dirty="0">
                <a:solidFill>
                  <a:srgbClr val="201E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Student innovation meetup</a:t>
            </a:r>
            <a:endParaRPr lang="en-US" sz="1120" dirty="0"/>
          </a:p>
        </p:txBody>
      </p:sp>
      <p:sp>
        <p:nvSpPr>
          <p:cNvPr id="21" name="Text 19"/>
          <p:cNvSpPr/>
          <p:nvPr/>
        </p:nvSpPr>
        <p:spPr>
          <a:xfrm>
            <a:off x="914400" y="4800600"/>
            <a:ext cx="2286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80" b="1" spc="70" kern="0" dirty="0">
                <a:solidFill>
                  <a:srgbClr val="6D68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QUICK ACCESS</a:t>
            </a:r>
            <a:endParaRPr lang="en-US" sz="880" dirty="0"/>
          </a:p>
        </p:txBody>
      </p:sp>
      <p:sp>
        <p:nvSpPr>
          <p:cNvPr id="22" name="Shape 20"/>
          <p:cNvSpPr/>
          <p:nvPr/>
        </p:nvSpPr>
        <p:spPr>
          <a:xfrm>
            <a:off x="914400" y="5093208"/>
            <a:ext cx="2267712" cy="329184"/>
          </a:xfrm>
          <a:prstGeom prst="roundRect">
            <a:avLst>
              <a:gd name="adj" fmla="val 33333"/>
            </a:avLst>
          </a:prstGeom>
          <a:solidFill>
            <a:srgbClr val="EAF0FF"/>
          </a:solidFill>
          <a:ln w="1270">
            <a:solidFill>
              <a:srgbClr val="EAF0FF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024128" y="5120640"/>
            <a:ext cx="2039112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30" b="1" dirty="0">
                <a:solidFill>
                  <a:srgbClr val="5577C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Library</a:t>
            </a:r>
            <a:endParaRPr lang="en-US" sz="1030" dirty="0"/>
          </a:p>
        </p:txBody>
      </p:sp>
      <p:sp>
        <p:nvSpPr>
          <p:cNvPr id="24" name="Shape 22"/>
          <p:cNvSpPr/>
          <p:nvPr/>
        </p:nvSpPr>
        <p:spPr>
          <a:xfrm>
            <a:off x="3364992" y="5093208"/>
            <a:ext cx="2267712" cy="329184"/>
          </a:xfrm>
          <a:prstGeom prst="roundRect">
            <a:avLst>
              <a:gd name="adj" fmla="val 33333"/>
            </a:avLst>
          </a:prstGeom>
          <a:solidFill>
            <a:srgbClr val="E5F4F1"/>
          </a:solidFill>
          <a:ln w="1270">
            <a:solidFill>
              <a:srgbClr val="E5F4F1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474720" y="5120640"/>
            <a:ext cx="2039112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30" b="1" dirty="0">
                <a:solidFill>
                  <a:srgbClr val="328C8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 tracking</a:t>
            </a:r>
            <a:endParaRPr lang="en-US" sz="1030" dirty="0"/>
          </a:p>
        </p:txBody>
      </p:sp>
      <p:sp>
        <p:nvSpPr>
          <p:cNvPr id="26" name="Shape 24"/>
          <p:cNvSpPr/>
          <p:nvPr/>
        </p:nvSpPr>
        <p:spPr>
          <a:xfrm>
            <a:off x="914400" y="5532120"/>
            <a:ext cx="2267712" cy="329184"/>
          </a:xfrm>
          <a:prstGeom prst="roundRect">
            <a:avLst>
              <a:gd name="adj" fmla="val 33333"/>
            </a:avLst>
          </a:prstGeom>
          <a:solidFill>
            <a:srgbClr val="FCE9EC"/>
          </a:solidFill>
          <a:ln w="1270">
            <a:solidFill>
              <a:srgbClr val="FCE9EC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1024128" y="5559552"/>
            <a:ext cx="2039112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30" b="1" dirty="0">
                <a:solidFill>
                  <a:srgbClr val="E525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Hostel</a:t>
            </a:r>
            <a:endParaRPr lang="en-US" sz="1030" dirty="0"/>
          </a:p>
        </p:txBody>
      </p:sp>
      <p:sp>
        <p:nvSpPr>
          <p:cNvPr id="28" name="Shape 26"/>
          <p:cNvSpPr/>
          <p:nvPr/>
        </p:nvSpPr>
        <p:spPr>
          <a:xfrm>
            <a:off x="3364992" y="5532120"/>
            <a:ext cx="2267712" cy="329184"/>
          </a:xfrm>
          <a:prstGeom prst="roundRect">
            <a:avLst>
              <a:gd name="adj" fmla="val 33333"/>
            </a:avLst>
          </a:prstGeom>
          <a:solidFill>
            <a:srgbClr val="FFF4D8"/>
          </a:solidFill>
          <a:ln w="1270">
            <a:solidFill>
              <a:srgbClr val="FFF4D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474720" y="5559552"/>
            <a:ext cx="2039112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30" b="1" dirty="0">
                <a:solidFill>
                  <a:srgbClr val="A5741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Placements</a:t>
            </a:r>
            <a:endParaRPr lang="en-US" sz="1030" dirty="0"/>
          </a:p>
        </p:txBody>
      </p:sp>
      <p:sp>
        <p:nvSpPr>
          <p:cNvPr id="30" name="Shape 28"/>
          <p:cNvSpPr/>
          <p:nvPr/>
        </p:nvSpPr>
        <p:spPr>
          <a:xfrm>
            <a:off x="6300216" y="1901952"/>
            <a:ext cx="5248656" cy="4206240"/>
          </a:xfrm>
          <a:prstGeom prst="roundRect">
            <a:avLst>
              <a:gd name="adj" fmla="val 2609"/>
            </a:avLst>
          </a:prstGeom>
          <a:solidFill>
            <a:srgbClr val="FFFFFF"/>
          </a:solidFill>
          <a:ln w="9525">
            <a:solidFill>
              <a:srgbClr val="E9E6E9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6583680" y="2167128"/>
            <a:ext cx="475488" cy="475488"/>
          </a:xfrm>
          <a:prstGeom prst="ellipse">
            <a:avLst/>
          </a:prstGeom>
          <a:solidFill>
            <a:srgbClr val="FFF4D8"/>
          </a:solidFill>
          <a:ln w="1270">
            <a:solidFill>
              <a:srgbClr val="FFF4D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583680" y="2171700"/>
            <a:ext cx="475488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A5741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</a:t>
            </a:r>
            <a:endParaRPr lang="en-US" sz="1500" dirty="0"/>
          </a:p>
        </p:txBody>
      </p:sp>
      <p:sp>
        <p:nvSpPr>
          <p:cNvPr id="33" name="Text 31"/>
          <p:cNvSpPr/>
          <p:nvPr/>
        </p:nvSpPr>
        <p:spPr>
          <a:xfrm>
            <a:off x="7205472" y="2148840"/>
            <a:ext cx="3383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900" b="1" dirty="0">
                <a:solidFill>
                  <a:srgbClr val="201E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 Connect</a:t>
            </a:r>
            <a:endParaRPr lang="en-US" sz="1900" dirty="0"/>
          </a:p>
        </p:txBody>
      </p:sp>
      <p:sp>
        <p:nvSpPr>
          <p:cNvPr id="34" name="Text 32"/>
          <p:cNvSpPr/>
          <p:nvPr/>
        </p:nvSpPr>
        <p:spPr>
          <a:xfrm>
            <a:off x="7205472" y="2496312"/>
            <a:ext cx="3657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6D68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student-powered campus feed.</a:t>
            </a:r>
            <a:endParaRPr lang="en-US" sz="1150" dirty="0"/>
          </a:p>
        </p:txBody>
      </p:sp>
      <p:sp>
        <p:nvSpPr>
          <p:cNvPr id="35" name="Shape 33"/>
          <p:cNvSpPr/>
          <p:nvPr/>
        </p:nvSpPr>
        <p:spPr>
          <a:xfrm>
            <a:off x="6583680" y="2971800"/>
            <a:ext cx="4681728" cy="2724912"/>
          </a:xfrm>
          <a:prstGeom prst="roundRect">
            <a:avLst>
              <a:gd name="adj" fmla="val 4027"/>
            </a:avLst>
          </a:prstGeom>
          <a:solidFill>
            <a:srgbClr val="F8F8FA"/>
          </a:solidFill>
          <a:ln w="7620">
            <a:solidFill>
              <a:srgbClr val="F0EDF0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6830568" y="3236976"/>
            <a:ext cx="420624" cy="420624"/>
          </a:xfrm>
          <a:prstGeom prst="ellipse">
            <a:avLst/>
          </a:prstGeom>
          <a:solidFill>
            <a:srgbClr val="FCE9EC"/>
          </a:solidFill>
          <a:ln w="1270">
            <a:solidFill>
              <a:srgbClr val="FCE9EC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830568" y="3246120"/>
            <a:ext cx="420624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E525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</a:t>
            </a:r>
            <a:endParaRPr lang="en-US" sz="1500" dirty="0"/>
          </a:p>
        </p:txBody>
      </p:sp>
      <p:sp>
        <p:nvSpPr>
          <p:cNvPr id="38" name="Text 36"/>
          <p:cNvSpPr/>
          <p:nvPr/>
        </p:nvSpPr>
        <p:spPr>
          <a:xfrm>
            <a:off x="7388352" y="3218688"/>
            <a:ext cx="3200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40" b="1" dirty="0">
                <a:solidFill>
                  <a:srgbClr val="201E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 Photography Club</a:t>
            </a:r>
            <a:endParaRPr lang="en-US" sz="1140" dirty="0"/>
          </a:p>
        </p:txBody>
      </p:sp>
      <p:sp>
        <p:nvSpPr>
          <p:cNvPr id="39" name="Text 37"/>
          <p:cNvSpPr/>
          <p:nvPr/>
        </p:nvSpPr>
        <p:spPr>
          <a:xfrm>
            <a:off x="7388352" y="3465576"/>
            <a:ext cx="338328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6D68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Campus community  ·  2h ago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6839712" y="3913632"/>
            <a:ext cx="4069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201E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little campus, a lot of stories.</a:t>
            </a:r>
            <a:endParaRPr lang="en-US" sz="1600" dirty="0"/>
          </a:p>
        </p:txBody>
      </p:sp>
      <p:sp>
        <p:nvSpPr>
          <p:cNvPr id="41" name="Shape 39"/>
          <p:cNvSpPr/>
          <p:nvPr/>
        </p:nvSpPr>
        <p:spPr>
          <a:xfrm>
            <a:off x="6839712" y="4370832"/>
            <a:ext cx="4160520" cy="758952"/>
          </a:xfrm>
          <a:prstGeom prst="roundRect">
            <a:avLst>
              <a:gd name="adj" fmla="val 14458"/>
            </a:avLst>
          </a:prstGeom>
          <a:solidFill>
            <a:srgbClr val="FCE9EC"/>
          </a:solidFill>
          <a:ln w="1270">
            <a:solidFill>
              <a:srgbClr val="FCE9EC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7059168" y="4553712"/>
            <a:ext cx="384048" cy="384048"/>
          </a:xfrm>
          <a:prstGeom prst="ellipse">
            <a:avLst/>
          </a:prstGeom>
          <a:solidFill>
            <a:srgbClr val="E52535"/>
          </a:solidFill>
          <a:ln w="1270">
            <a:solidFill>
              <a:srgbClr val="E52535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7059168" y="4544568"/>
            <a:ext cx="384048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↗</a:t>
            </a:r>
            <a:endParaRPr lang="en-US" sz="1700" dirty="0"/>
          </a:p>
        </p:txBody>
      </p:sp>
      <p:sp>
        <p:nvSpPr>
          <p:cNvPr id="44" name="Text 42"/>
          <p:cNvSpPr/>
          <p:nvPr/>
        </p:nvSpPr>
        <p:spPr>
          <a:xfrm>
            <a:off x="7626096" y="4480560"/>
            <a:ext cx="2880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60" b="1" dirty="0">
                <a:solidFill>
                  <a:srgbClr val="201E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 campus photowalk</a:t>
            </a:r>
            <a:endParaRPr lang="en-US" sz="1160" dirty="0"/>
          </a:p>
        </p:txBody>
      </p:sp>
      <p:sp>
        <p:nvSpPr>
          <p:cNvPr id="45" name="Text 43"/>
          <p:cNvSpPr/>
          <p:nvPr/>
        </p:nvSpPr>
        <p:spPr>
          <a:xfrm>
            <a:off x="7626096" y="4754880"/>
            <a:ext cx="2971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70" dirty="0">
                <a:solidFill>
                  <a:srgbClr val="6D68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Friday  ·  4:00 PM  ·  All students welcome</a:t>
            </a:r>
            <a:endParaRPr lang="en-US" sz="870" dirty="0"/>
          </a:p>
        </p:txBody>
      </p:sp>
      <p:sp>
        <p:nvSpPr>
          <p:cNvPr id="46" name="Shape 44"/>
          <p:cNvSpPr/>
          <p:nvPr/>
        </p:nvSpPr>
        <p:spPr>
          <a:xfrm>
            <a:off x="6839712" y="5330952"/>
            <a:ext cx="1600200" cy="283464"/>
          </a:xfrm>
          <a:prstGeom prst="roundRect">
            <a:avLst>
              <a:gd name="adj" fmla="val 38710"/>
            </a:avLst>
          </a:prstGeom>
          <a:solidFill>
            <a:srgbClr val="E52535"/>
          </a:solidFill>
          <a:ln w="1270">
            <a:solidFill>
              <a:srgbClr val="E52535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6922008" y="5340096"/>
            <a:ext cx="1435608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20" b="1" spc="35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I’M INTERESTED</a:t>
            </a:r>
            <a:endParaRPr lang="en-US" sz="820" dirty="0"/>
          </a:p>
        </p:txBody>
      </p:sp>
      <p:sp>
        <p:nvSpPr>
          <p:cNvPr id="48" name="Text 46"/>
          <p:cNvSpPr/>
          <p:nvPr/>
        </p:nvSpPr>
        <p:spPr>
          <a:xfrm>
            <a:off x="9528048" y="5367528"/>
            <a:ext cx="1463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20" b="1" spc="50" kern="0" dirty="0">
                <a:solidFill>
                  <a:srgbClr val="A39E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CONCEPT FEED</a:t>
            </a:r>
            <a:endParaRPr lang="en-US" sz="82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355080"/>
            <a:ext cx="228600" cy="219456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800">
                <a:solidFill>
                  <a:srgbClr val="6F6A71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85216" y="384048"/>
            <a:ext cx="7772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b="1" spc="125" kern="0" dirty="0">
                <a:solidFill>
                  <a:srgbClr val="E525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DAY WITH MET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585216" y="704088"/>
            <a:ext cx="1097280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200" b="1" spc="-45" kern="0" dirty="0">
                <a:solidFill>
                  <a:srgbClr val="201E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From first class to campus connection.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603504" y="1353312"/>
            <a:ext cx="10835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50" dirty="0">
                <a:solidFill>
                  <a:srgbClr val="6D68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app supports students across the natural rhythm of a college day.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1399032" y="3026664"/>
            <a:ext cx="9381744" cy="0"/>
          </a:xfrm>
          <a:prstGeom prst="line">
            <a:avLst/>
          </a:prstGeom>
          <a:noFill/>
          <a:ln w="19050">
            <a:solidFill>
              <a:srgbClr val="E7C4C8"/>
            </a:solidFill>
            <a:prstDash val="dash"/>
          </a:ln>
        </p:spPr>
      </p:sp>
      <p:sp>
        <p:nvSpPr>
          <p:cNvPr id="6" name="Shape 4"/>
          <p:cNvSpPr/>
          <p:nvPr/>
        </p:nvSpPr>
        <p:spPr>
          <a:xfrm>
            <a:off x="658368" y="2020824"/>
            <a:ext cx="2487168" cy="3438144"/>
          </a:xfrm>
          <a:prstGeom prst="roundRect">
            <a:avLst>
              <a:gd name="adj" fmla="val 4412"/>
            </a:avLst>
          </a:prstGeom>
          <a:solidFill>
            <a:srgbClr val="FFFFFF"/>
          </a:solidFill>
          <a:ln w="9525">
            <a:solidFill>
              <a:srgbClr val="E9E6E9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517904" y="2350008"/>
            <a:ext cx="749808" cy="749808"/>
          </a:xfrm>
          <a:prstGeom prst="ellipse">
            <a:avLst/>
          </a:prstGeom>
          <a:solidFill>
            <a:srgbClr val="EAF0FF"/>
          </a:solidFill>
          <a:ln w="1270">
            <a:solidFill>
              <a:srgbClr val="EAF0F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517904" y="2350008"/>
            <a:ext cx="74980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5577C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</a:t>
            </a:r>
            <a:endParaRPr lang="en-US" sz="2100" dirty="0"/>
          </a:p>
        </p:txBody>
      </p:sp>
      <p:sp>
        <p:nvSpPr>
          <p:cNvPr id="9" name="Shape 7"/>
          <p:cNvSpPr/>
          <p:nvPr/>
        </p:nvSpPr>
        <p:spPr>
          <a:xfrm>
            <a:off x="1755648" y="2898648"/>
            <a:ext cx="274320" cy="274320"/>
          </a:xfrm>
          <a:prstGeom prst="ellipse">
            <a:avLst/>
          </a:prstGeom>
          <a:solidFill>
            <a:srgbClr val="FFFFFF"/>
          </a:solidFill>
          <a:ln w="1270">
            <a:solidFill>
              <a:srgbClr val="FFFFF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755648" y="2907792"/>
            <a:ext cx="2743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5577C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877824" y="3429000"/>
            <a:ext cx="204825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40" b="1" spc="80" kern="0" dirty="0">
                <a:solidFill>
                  <a:srgbClr val="5577C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BEFORE CLASS</a:t>
            </a:r>
            <a:endParaRPr lang="en-US" sz="840" dirty="0"/>
          </a:p>
        </p:txBody>
      </p:sp>
      <p:sp>
        <p:nvSpPr>
          <p:cNvPr id="12" name="Text 10"/>
          <p:cNvSpPr/>
          <p:nvPr/>
        </p:nvSpPr>
        <p:spPr>
          <a:xfrm>
            <a:off x="877824" y="3739896"/>
            <a:ext cx="20482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201E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Plan</a:t>
            </a:r>
            <a:endParaRPr lang="en-US" sz="2100" dirty="0"/>
          </a:p>
        </p:txBody>
      </p:sp>
      <p:sp>
        <p:nvSpPr>
          <p:cNvPr id="13" name="Text 11"/>
          <p:cNvSpPr/>
          <p:nvPr/>
        </p:nvSpPr>
        <p:spPr>
          <a:xfrm>
            <a:off x="932688" y="4233672"/>
            <a:ext cx="1938528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140" dirty="0">
                <a:solidFill>
                  <a:srgbClr val="6D68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Check the timetable and get a reminder for what’s next.</a:t>
            </a:r>
            <a:endParaRPr lang="en-US" sz="1140" dirty="0"/>
          </a:p>
        </p:txBody>
      </p:sp>
      <p:sp>
        <p:nvSpPr>
          <p:cNvPr id="14" name="Shape 12"/>
          <p:cNvSpPr/>
          <p:nvPr/>
        </p:nvSpPr>
        <p:spPr>
          <a:xfrm>
            <a:off x="3547872" y="2020824"/>
            <a:ext cx="2487168" cy="3438144"/>
          </a:xfrm>
          <a:prstGeom prst="roundRect">
            <a:avLst>
              <a:gd name="adj" fmla="val 4412"/>
            </a:avLst>
          </a:prstGeom>
          <a:solidFill>
            <a:srgbClr val="FFFFFF"/>
          </a:solidFill>
          <a:ln w="9525">
            <a:solidFill>
              <a:srgbClr val="E9E6E9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407408" y="2350008"/>
            <a:ext cx="749808" cy="749808"/>
          </a:xfrm>
          <a:prstGeom prst="ellipse">
            <a:avLst/>
          </a:prstGeom>
          <a:solidFill>
            <a:srgbClr val="FCE9EC"/>
          </a:solidFill>
          <a:ln w="1270">
            <a:solidFill>
              <a:srgbClr val="FCE9EC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407408" y="2350008"/>
            <a:ext cx="74980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E525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</a:t>
            </a:r>
            <a:endParaRPr lang="en-US" sz="1500" dirty="0"/>
          </a:p>
        </p:txBody>
      </p:sp>
      <p:sp>
        <p:nvSpPr>
          <p:cNvPr id="17" name="Shape 15"/>
          <p:cNvSpPr/>
          <p:nvPr/>
        </p:nvSpPr>
        <p:spPr>
          <a:xfrm>
            <a:off x="4645152" y="2898648"/>
            <a:ext cx="274320" cy="274320"/>
          </a:xfrm>
          <a:prstGeom prst="ellipse">
            <a:avLst/>
          </a:prstGeom>
          <a:solidFill>
            <a:srgbClr val="FFFFFF"/>
          </a:solidFill>
          <a:ln w="1270">
            <a:solidFill>
              <a:srgbClr val="FFFFF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645152" y="2907792"/>
            <a:ext cx="2743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E525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3767328" y="3429000"/>
            <a:ext cx="204825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40" b="1" spc="80" kern="0" dirty="0">
                <a:solidFill>
                  <a:srgbClr val="E525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 CAMPUS</a:t>
            </a:r>
            <a:endParaRPr lang="en-US" sz="840" dirty="0"/>
          </a:p>
        </p:txBody>
      </p:sp>
      <p:sp>
        <p:nvSpPr>
          <p:cNvPr id="20" name="Text 18"/>
          <p:cNvSpPr/>
          <p:nvPr/>
        </p:nvSpPr>
        <p:spPr>
          <a:xfrm>
            <a:off x="3767328" y="3739896"/>
            <a:ext cx="20482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201E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Arrive</a:t>
            </a:r>
            <a:endParaRPr lang="en-US" sz="2100" dirty="0"/>
          </a:p>
        </p:txBody>
      </p:sp>
      <p:sp>
        <p:nvSpPr>
          <p:cNvPr id="21" name="Text 19"/>
          <p:cNvSpPr/>
          <p:nvPr/>
        </p:nvSpPr>
        <p:spPr>
          <a:xfrm>
            <a:off x="3822192" y="4233672"/>
            <a:ext cx="1938528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140" dirty="0">
                <a:solidFill>
                  <a:srgbClr val="6D68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 the digital student ID and access campus information.</a:t>
            </a:r>
            <a:endParaRPr lang="en-US" sz="1140" dirty="0"/>
          </a:p>
        </p:txBody>
      </p:sp>
      <p:sp>
        <p:nvSpPr>
          <p:cNvPr id="22" name="Shape 20"/>
          <p:cNvSpPr/>
          <p:nvPr/>
        </p:nvSpPr>
        <p:spPr>
          <a:xfrm>
            <a:off x="6437376" y="2020824"/>
            <a:ext cx="2487168" cy="3438144"/>
          </a:xfrm>
          <a:prstGeom prst="roundRect">
            <a:avLst>
              <a:gd name="adj" fmla="val 4412"/>
            </a:avLst>
          </a:prstGeom>
          <a:solidFill>
            <a:srgbClr val="FFFFFF"/>
          </a:solidFill>
          <a:ln w="9525">
            <a:solidFill>
              <a:srgbClr val="E9E6E9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7296912" y="2350008"/>
            <a:ext cx="749808" cy="749808"/>
          </a:xfrm>
          <a:prstGeom prst="ellipse">
            <a:avLst/>
          </a:prstGeom>
          <a:solidFill>
            <a:srgbClr val="F1EAF8"/>
          </a:solidFill>
          <a:ln w="1270">
            <a:solidFill>
              <a:srgbClr val="F1EAF8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296912" y="2350008"/>
            <a:ext cx="74980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8D69B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</a:t>
            </a:r>
            <a:endParaRPr lang="en-US" sz="2100" dirty="0"/>
          </a:p>
        </p:txBody>
      </p:sp>
      <p:sp>
        <p:nvSpPr>
          <p:cNvPr id="25" name="Shape 23"/>
          <p:cNvSpPr/>
          <p:nvPr/>
        </p:nvSpPr>
        <p:spPr>
          <a:xfrm>
            <a:off x="7534656" y="2898648"/>
            <a:ext cx="274320" cy="274320"/>
          </a:xfrm>
          <a:prstGeom prst="ellipse">
            <a:avLst/>
          </a:prstGeom>
          <a:solidFill>
            <a:srgbClr val="FFFFFF"/>
          </a:solidFill>
          <a:ln w="1270">
            <a:solidFill>
              <a:srgbClr val="FFFFFF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534656" y="2907792"/>
            <a:ext cx="2743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8D69B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6656832" y="3429000"/>
            <a:ext cx="204825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40" b="1" spc="80" kern="0" dirty="0">
                <a:solidFill>
                  <a:srgbClr val="8D69B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CLASS</a:t>
            </a:r>
            <a:endParaRPr lang="en-US" sz="840" dirty="0"/>
          </a:p>
        </p:txBody>
      </p:sp>
      <p:sp>
        <p:nvSpPr>
          <p:cNvPr id="28" name="Text 26"/>
          <p:cNvSpPr/>
          <p:nvPr/>
        </p:nvSpPr>
        <p:spPr>
          <a:xfrm>
            <a:off x="6656832" y="3739896"/>
            <a:ext cx="20482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201E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Learn</a:t>
            </a:r>
            <a:endParaRPr lang="en-US" sz="2100" dirty="0"/>
          </a:p>
        </p:txBody>
      </p:sp>
      <p:sp>
        <p:nvSpPr>
          <p:cNvPr id="29" name="Text 27"/>
          <p:cNvSpPr/>
          <p:nvPr/>
        </p:nvSpPr>
        <p:spPr>
          <a:xfrm>
            <a:off x="6711696" y="4233672"/>
            <a:ext cx="1938528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140" dirty="0">
                <a:solidFill>
                  <a:srgbClr val="6D68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Find materials, follow assignments, and submit course work.</a:t>
            </a:r>
            <a:endParaRPr lang="en-US" sz="1140" dirty="0"/>
          </a:p>
        </p:txBody>
      </p:sp>
      <p:sp>
        <p:nvSpPr>
          <p:cNvPr id="30" name="Shape 28"/>
          <p:cNvSpPr/>
          <p:nvPr/>
        </p:nvSpPr>
        <p:spPr>
          <a:xfrm>
            <a:off x="9326880" y="2020824"/>
            <a:ext cx="2487168" cy="3438144"/>
          </a:xfrm>
          <a:prstGeom prst="roundRect">
            <a:avLst>
              <a:gd name="adj" fmla="val 4412"/>
            </a:avLst>
          </a:prstGeom>
          <a:solidFill>
            <a:srgbClr val="FFFFFF"/>
          </a:solidFill>
          <a:ln w="9525">
            <a:solidFill>
              <a:srgbClr val="E9E6E9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10186416" y="2350008"/>
            <a:ext cx="749808" cy="749808"/>
          </a:xfrm>
          <a:prstGeom prst="ellipse">
            <a:avLst/>
          </a:prstGeom>
          <a:solidFill>
            <a:srgbClr val="FFF4D8"/>
          </a:solidFill>
          <a:ln w="1270">
            <a:solidFill>
              <a:srgbClr val="FFF4D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10186416" y="2350008"/>
            <a:ext cx="74980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A5741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</a:t>
            </a:r>
            <a:endParaRPr lang="en-US" sz="2100" dirty="0"/>
          </a:p>
        </p:txBody>
      </p:sp>
      <p:sp>
        <p:nvSpPr>
          <p:cNvPr id="33" name="Shape 31"/>
          <p:cNvSpPr/>
          <p:nvPr/>
        </p:nvSpPr>
        <p:spPr>
          <a:xfrm>
            <a:off x="10424160" y="2898648"/>
            <a:ext cx="274320" cy="274320"/>
          </a:xfrm>
          <a:prstGeom prst="ellipse">
            <a:avLst/>
          </a:prstGeom>
          <a:solidFill>
            <a:srgbClr val="FFFFFF"/>
          </a:solidFill>
          <a:ln w="1270">
            <a:solidFill>
              <a:srgbClr val="FFFFFF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10424160" y="2907792"/>
            <a:ext cx="2743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A5741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800" dirty="0"/>
          </a:p>
        </p:txBody>
      </p:sp>
      <p:sp>
        <p:nvSpPr>
          <p:cNvPr id="35" name="Text 33"/>
          <p:cNvSpPr/>
          <p:nvPr/>
        </p:nvSpPr>
        <p:spPr>
          <a:xfrm>
            <a:off x="9546336" y="3429000"/>
            <a:ext cx="204825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40" b="1" spc="80" kern="0" dirty="0">
                <a:solidFill>
                  <a:srgbClr val="A5741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AFTER CLASS</a:t>
            </a:r>
            <a:endParaRPr lang="en-US" sz="840" dirty="0"/>
          </a:p>
        </p:txBody>
      </p:sp>
      <p:sp>
        <p:nvSpPr>
          <p:cNvPr id="36" name="Text 34"/>
          <p:cNvSpPr/>
          <p:nvPr/>
        </p:nvSpPr>
        <p:spPr>
          <a:xfrm>
            <a:off x="9546336" y="3739896"/>
            <a:ext cx="20482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201E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Belong</a:t>
            </a:r>
            <a:endParaRPr lang="en-US" sz="2100" dirty="0"/>
          </a:p>
        </p:txBody>
      </p:sp>
      <p:sp>
        <p:nvSpPr>
          <p:cNvPr id="37" name="Text 35"/>
          <p:cNvSpPr/>
          <p:nvPr/>
        </p:nvSpPr>
        <p:spPr>
          <a:xfrm>
            <a:off x="9601200" y="4233672"/>
            <a:ext cx="1938528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140" dirty="0">
                <a:solidFill>
                  <a:srgbClr val="6D68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 events, clubs, and updates through the campus feed.</a:t>
            </a:r>
            <a:endParaRPr lang="en-US" sz="1140" dirty="0"/>
          </a:p>
        </p:txBody>
      </p:sp>
      <p:sp>
        <p:nvSpPr>
          <p:cNvPr id="38" name="Text 36"/>
          <p:cNvSpPr/>
          <p:nvPr/>
        </p:nvSpPr>
        <p:spPr>
          <a:xfrm>
            <a:off x="3063240" y="5824728"/>
            <a:ext cx="6080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650" b="1" dirty="0">
                <a:solidFill>
                  <a:srgbClr val="A916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login. A more connected campus day.</a:t>
            </a:r>
            <a:endParaRPr lang="en-US" sz="16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355080"/>
            <a:ext cx="228600" cy="219456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800">
                <a:solidFill>
                  <a:srgbClr val="6F6A71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11D23"/>
          </a:solidFill>
          <a:ln w="1270">
            <a:solidFill>
              <a:srgbClr val="211D23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001000" y="393192"/>
            <a:ext cx="3794760" cy="3794760"/>
          </a:xfrm>
          <a:prstGeom prst="ellipse">
            <a:avLst/>
          </a:prstGeom>
          <a:solidFill>
            <a:srgbClr val="E52535"/>
          </a:solidFill>
          <a:ln w="1270">
            <a:solidFill>
              <a:srgbClr val="E52535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692640" y="4297680"/>
            <a:ext cx="2468880" cy="2468880"/>
          </a:xfrm>
          <a:prstGeom prst="ellipse">
            <a:avLst/>
          </a:prstGeom>
          <a:solidFill>
            <a:srgbClr val="3A252C"/>
          </a:solidFill>
          <a:ln w="1270">
            <a:solidFill>
              <a:srgbClr val="3A252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13232" y="667512"/>
            <a:ext cx="2194560" cy="347472"/>
          </a:xfrm>
          <a:prstGeom prst="roundRect">
            <a:avLst>
              <a:gd name="adj" fmla="val 31579"/>
            </a:avLst>
          </a:prstGeom>
          <a:solidFill>
            <a:srgbClr val="E52535"/>
          </a:solidFill>
          <a:ln w="1270">
            <a:solidFill>
              <a:srgbClr val="E5253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95528" y="676656"/>
            <a:ext cx="202996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10" b="1" spc="35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 DIGITAL CAMPUS</a:t>
            </a:r>
            <a:endParaRPr lang="en-US" sz="910" dirty="0"/>
          </a:p>
        </p:txBody>
      </p:sp>
      <p:sp>
        <p:nvSpPr>
          <p:cNvPr id="7" name="Text 5"/>
          <p:cNvSpPr/>
          <p:nvPr/>
        </p:nvSpPr>
        <p:spPr>
          <a:xfrm>
            <a:off x="713232" y="1344168"/>
            <a:ext cx="6858000" cy="13167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800" b="1" spc="-5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Make every campus day</a:t>
            </a:r>
            <a:endParaRPr lang="en-US" sz="3800" dirty="0"/>
          </a:p>
          <a:p>
            <a:pPr indent="0" marL="0">
              <a:buNone/>
            </a:pPr>
            <a:r>
              <a:rPr lang="en-US" sz="3800" b="1" spc="-5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easier to navigate.</a:t>
            </a:r>
            <a:endParaRPr lang="en-US" sz="3800" dirty="0"/>
          </a:p>
        </p:txBody>
      </p:sp>
      <p:sp>
        <p:nvSpPr>
          <p:cNvPr id="8" name="Text 6"/>
          <p:cNvSpPr/>
          <p:nvPr/>
        </p:nvSpPr>
        <p:spPr>
          <a:xfrm>
            <a:off x="749808" y="2944368"/>
            <a:ext cx="6327648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E8E3E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centralized, intelligent, and engaging student platform for classes, attendance, academic responsibilities, and campus life.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749808" y="4041648"/>
            <a:ext cx="338328" cy="338328"/>
          </a:xfrm>
          <a:prstGeom prst="ellipse">
            <a:avLst/>
          </a:prstGeom>
          <a:solidFill>
            <a:srgbClr val="39242B"/>
          </a:solidFill>
          <a:ln w="1270">
            <a:solidFill>
              <a:srgbClr val="39242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49808" y="4050792"/>
            <a:ext cx="33832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30" b="1" dirty="0">
                <a:solidFill>
                  <a:srgbClr val="FF98A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830" dirty="0"/>
          </a:p>
        </p:txBody>
      </p:sp>
      <p:sp>
        <p:nvSpPr>
          <p:cNvPr id="11" name="Text 9"/>
          <p:cNvSpPr/>
          <p:nvPr/>
        </p:nvSpPr>
        <p:spPr>
          <a:xfrm>
            <a:off x="1188720" y="4005072"/>
            <a:ext cx="1755648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2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Plan with clarity</a:t>
            </a:r>
            <a:endParaRPr lang="en-US" sz="1120" dirty="0"/>
          </a:p>
        </p:txBody>
      </p:sp>
      <p:sp>
        <p:nvSpPr>
          <p:cNvPr id="12" name="Shape 10"/>
          <p:cNvSpPr/>
          <p:nvPr/>
        </p:nvSpPr>
        <p:spPr>
          <a:xfrm>
            <a:off x="3072384" y="4041648"/>
            <a:ext cx="338328" cy="338328"/>
          </a:xfrm>
          <a:prstGeom prst="ellipse">
            <a:avLst/>
          </a:prstGeom>
          <a:solidFill>
            <a:srgbClr val="39242B"/>
          </a:solidFill>
          <a:ln w="1270">
            <a:solidFill>
              <a:srgbClr val="39242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072384" y="4050792"/>
            <a:ext cx="33832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30" b="1" dirty="0">
                <a:solidFill>
                  <a:srgbClr val="FF98A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830" dirty="0"/>
          </a:p>
        </p:txBody>
      </p:sp>
      <p:sp>
        <p:nvSpPr>
          <p:cNvPr id="14" name="Text 12"/>
          <p:cNvSpPr/>
          <p:nvPr/>
        </p:nvSpPr>
        <p:spPr>
          <a:xfrm>
            <a:off x="3511296" y="4005072"/>
            <a:ext cx="1755648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2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Stay academically on track</a:t>
            </a:r>
            <a:endParaRPr lang="en-US" sz="1120" dirty="0"/>
          </a:p>
        </p:txBody>
      </p:sp>
      <p:sp>
        <p:nvSpPr>
          <p:cNvPr id="15" name="Shape 13"/>
          <p:cNvSpPr/>
          <p:nvPr/>
        </p:nvSpPr>
        <p:spPr>
          <a:xfrm>
            <a:off x="5394960" y="4041648"/>
            <a:ext cx="338328" cy="338328"/>
          </a:xfrm>
          <a:prstGeom prst="ellipse">
            <a:avLst/>
          </a:prstGeom>
          <a:solidFill>
            <a:srgbClr val="39242B"/>
          </a:solidFill>
          <a:ln w="1270">
            <a:solidFill>
              <a:srgbClr val="39242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394960" y="4050792"/>
            <a:ext cx="33832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30" b="1" dirty="0">
                <a:solidFill>
                  <a:srgbClr val="FF98A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830" dirty="0"/>
          </a:p>
        </p:txBody>
      </p:sp>
      <p:sp>
        <p:nvSpPr>
          <p:cNvPr id="17" name="Text 15"/>
          <p:cNvSpPr/>
          <p:nvPr/>
        </p:nvSpPr>
        <p:spPr>
          <a:xfrm>
            <a:off x="5833872" y="4005072"/>
            <a:ext cx="1755648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2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Feel part of campus</a:t>
            </a:r>
            <a:endParaRPr lang="en-US" sz="1120" dirty="0"/>
          </a:p>
        </p:txBody>
      </p:sp>
      <p:sp>
        <p:nvSpPr>
          <p:cNvPr id="18" name="Text 16"/>
          <p:cNvSpPr/>
          <p:nvPr/>
        </p:nvSpPr>
        <p:spPr>
          <a:xfrm>
            <a:off x="749808" y="5074920"/>
            <a:ext cx="182880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20" b="1" spc="100" kern="0" dirty="0">
                <a:solidFill>
                  <a:srgbClr val="FFAF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PRESENTED BY</a:t>
            </a:r>
            <a:endParaRPr lang="en-US" sz="920" dirty="0"/>
          </a:p>
        </p:txBody>
      </p:sp>
      <p:sp>
        <p:nvSpPr>
          <p:cNvPr id="19" name="Text 17"/>
          <p:cNvSpPr/>
          <p:nvPr/>
        </p:nvSpPr>
        <p:spPr>
          <a:xfrm>
            <a:off x="749808" y="5404104"/>
            <a:ext cx="6729984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4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Rohan Patil   ·   Manish Pawar   ·   Parth Deore   ·   Krushna Khode</a:t>
            </a:r>
            <a:endParaRPr lang="en-US" sz="1240" dirty="0"/>
          </a:p>
        </p:txBody>
      </p:sp>
      <p:sp>
        <p:nvSpPr>
          <p:cNvPr id="20" name="Shape 18"/>
          <p:cNvSpPr/>
          <p:nvPr/>
        </p:nvSpPr>
        <p:spPr>
          <a:xfrm>
            <a:off x="8527694" y="1410371"/>
            <a:ext cx="2699309" cy="2699309"/>
          </a:xfrm>
          <a:prstGeom prst="triangle">
            <a:avLst/>
          </a:prstGeom>
          <a:solidFill>
            <a:srgbClr val="A91627"/>
          </a:solidFill>
          <a:ln w="1270">
            <a:solidFill>
              <a:srgbClr val="A91627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8302752" y="1170432"/>
            <a:ext cx="2699309" cy="2699309"/>
          </a:xfrm>
          <a:prstGeom prst="triangle">
            <a:avLst/>
          </a:prstGeom>
          <a:solidFill>
            <a:srgbClr val="FF5361"/>
          </a:solidFill>
          <a:ln w="1270">
            <a:solidFill>
              <a:srgbClr val="FF5361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 rot="10800000">
            <a:off x="9712391" y="2340132"/>
            <a:ext cx="869777" cy="1169700"/>
          </a:xfrm>
          <a:prstGeom prst="rtTriangle">
            <a:avLst/>
          </a:prstGeom>
          <a:solidFill>
            <a:srgbClr val="FF8D96">
              <a:alpha val="87000"/>
            </a:srgbClr>
          </a:solidFill>
          <a:ln w="1270">
            <a:solidFill>
              <a:srgbClr val="FF8D96">
                <a:alpha val="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9247510" y="2505090"/>
            <a:ext cx="224942" cy="224942"/>
          </a:xfrm>
          <a:prstGeom prst="ellipse">
            <a:avLst/>
          </a:prstGeom>
          <a:solidFill>
            <a:srgbClr val="FFFFFF"/>
          </a:solidFill>
          <a:ln w="1270">
            <a:solidFill>
              <a:srgbClr val="FFFFFF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9922337" y="2505090"/>
            <a:ext cx="224942" cy="224942"/>
          </a:xfrm>
          <a:prstGeom prst="ellipse">
            <a:avLst/>
          </a:prstGeom>
          <a:solidFill>
            <a:srgbClr val="FFFFFF"/>
          </a:solidFill>
          <a:ln w="1270">
            <a:solidFill>
              <a:srgbClr val="FFFFFF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9517441" y="2954975"/>
            <a:ext cx="479877" cy="104973"/>
          </a:xfrm>
          <a:prstGeom prst="roundRect">
            <a:avLst>
              <a:gd name="adj" fmla="val 104530"/>
            </a:avLst>
          </a:prstGeom>
          <a:solidFill>
            <a:srgbClr val="FFFFFF"/>
          </a:solidFill>
          <a:ln w="1270">
            <a:solidFill>
              <a:srgbClr val="FFFFFF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9144000" y="5367528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spc="22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THANK YOU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MET Digital Campus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MET Digital Campus</dc:title>
  <dc:subject>MET Digital Campus student app concept</dc:subject>
  <dc:creator>Rohan Patil, Manish Pawar, Parth Deore, Krushna Khode</dc:creator>
  <cp:lastModifiedBy>Rohan Patil, Manish Pawar, Parth Deore, Krushna Khode</cp:lastModifiedBy>
  <cp:revision>1</cp:revision>
  <dcterms:created xsi:type="dcterms:W3CDTF">2026-09-26T16:11:30Z</dcterms:created>
  <dcterms:modified xsi:type="dcterms:W3CDTF">2026-09-26T16:11:30Z</dcterms:modified>
</cp:coreProperties>
</file>